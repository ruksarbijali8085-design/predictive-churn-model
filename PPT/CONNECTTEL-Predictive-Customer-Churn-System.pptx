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Geist Bold"/>
      <p:regular r:id="rId201314"/>
    </p:embeddedFont>
    <p:embeddedFont>
      <p:font typeface="Geist"/>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1620">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2441277"/>
            <a:ext cx="6296860" cy="1074936"/>
          </a:xfrm>
          <a:prstGeom prst="rect">
            <a:avLst/>
          </a:prstGeom>
          <a:noFill/>
          <a:ln/>
        </p:spPr>
        <p:txBody>
          <a:bodyPr wrap="square" lIns="0" tIns="0" rIns="0" bIns="0" rtlCol="0" anchor="t">
            <a:normAutofit/>
          </a:bodyPr>
          <a:lstStyle/>
          <a:p>
            <a:pPr algn="l" indent="0" marL="0">
              <a:lnSpc>
                <a:spcPct val="108000"/>
              </a:lnSpc>
              <a:buNone/>
            </a:pPr>
            <a:r>
              <a:rPr lang="en-US" sz="3250" b="1" spc="-65" kern="0" dirty="0">
                <a:solidFill>
                  <a:srgbClr val="F2F5FA"/>
                </a:solidFill>
                <a:latin typeface="Geist Bold" pitchFamily="34" charset="0"/>
                <a:ea typeface="Geist Bold" pitchFamily="34" charset="-122"/>
                <a:cs typeface="Geist Bold" pitchFamily="34" charset="-120"/>
              </a:rPr>
              <a:t> CONNECTTEL Predictive Customer Churn System</a:t>
            </a:r>
            <a:endParaRPr lang="en-US" sz="3250" dirty="0"/>
          </a:p>
        </p:txBody>
      </p:sp>
      <p:sp>
        <p:nvSpPr>
          <p:cNvPr id="4" name="Text 1"/>
          <p:cNvSpPr/>
          <p:nvPr/>
        </p:nvSpPr>
        <p:spPr>
          <a:xfrm>
            <a:off x="661475" y="3764260"/>
            <a:ext cx="6906444" cy="215007"/>
          </a:xfrm>
          <a:prstGeom prst="rect">
            <a:avLst/>
          </a:prstGeom>
          <a:noFill/>
          <a:ln/>
        </p:spPr>
        <p:txBody>
          <a:bodyPr wrap="none" lIns="0" tIns="0" rIns="0" bIns="0" rtlCol="0" anchor="t"/>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Using Machine Learning to Identify At-Risk Customers Before They Leave</a:t>
            </a:r>
            <a:endParaRPr lang="en-US" sz="1300" dirty="0"/>
          </a:p>
        </p:txBody>
      </p:sp>
      <p:sp>
        <p:nvSpPr>
          <p:cNvPr id="5" name="Shape 2"/>
          <p:cNvSpPr/>
          <p:nvPr/>
        </p:nvSpPr>
        <p:spPr>
          <a:xfrm>
            <a:off x="661475" y="4165302"/>
            <a:ext cx="1664353" cy="251420"/>
          </a:xfrm>
          <a:prstGeom prst="roundRect">
            <a:avLst>
              <a:gd name="adj" fmla="val 22103"/>
            </a:avLst>
          </a:prstGeom>
          <a:solidFill>
            <a:srgbClr val="00194D"/>
          </a:solidFill>
          <a:ln/>
        </p:spPr>
      </p:sp>
      <p:pic>
        <p:nvPicPr>
          <p:cNvPr id="6" name="Image 1" descr="preencoded.png">    </p:cNvPr>
          <p:cNvPicPr>
            <a:picLocks noChangeAspect="1"/>
          </p:cNvPicPr>
          <p:nvPr/>
        </p:nvPicPr>
        <p:blipFill>
          <a:blip r:embed="rId2"/>
          <a:stretch>
            <a:fillRect/>
          </a:stretch>
        </p:blipFill>
        <p:spPr>
          <a:xfrm>
            <a:off x="760691" y="4224834"/>
            <a:ext cx="132255" cy="132259"/>
          </a:xfrm>
          <a:prstGeom prst="rect">
            <a:avLst/>
          </a:prstGeom>
        </p:spPr>
      </p:pic>
      <p:sp>
        <p:nvSpPr>
          <p:cNvPr id="7" name="Text 3"/>
          <p:cNvSpPr/>
          <p:nvPr/>
        </p:nvSpPr>
        <p:spPr>
          <a:xfrm>
            <a:off x="959024" y="4214912"/>
            <a:ext cx="1877172" cy="152202"/>
          </a:xfrm>
          <a:prstGeom prst="rect">
            <a:avLst/>
          </a:prstGeom>
          <a:noFill/>
          <a:ln/>
        </p:spPr>
        <p:txBody>
          <a:bodyPr wrap="none" lIns="0" tIns="0" rIns="0" bIns="0" rtlCol="0" anchor="t"/>
          <a:lstStyle/>
          <a:p>
            <a:pPr algn="l" indent="0" marL="0">
              <a:lnSpc>
                <a:spcPct val="96000"/>
              </a:lnSpc>
              <a:buNone/>
            </a:pPr>
            <a:r>
              <a:rPr lang="en-US" sz="1000" dirty="0">
                <a:solidFill>
                  <a:srgbClr val="EBEDF0"/>
                </a:solidFill>
                <a:latin typeface="Geist" pitchFamily="34" charset="0"/>
                <a:ea typeface="Geist" pitchFamily="34" charset="-122"/>
                <a:cs typeface="Geist" pitchFamily="34" charset="-120"/>
              </a:rPr>
              <a:t>MACHINE LEARNING</a:t>
            </a:r>
            <a:endParaRPr lang="en-US" sz="1000" dirty="0"/>
          </a:p>
        </p:txBody>
      </p:sp>
      <p:sp>
        <p:nvSpPr>
          <p:cNvPr id="8" name="Shape 4"/>
          <p:cNvSpPr/>
          <p:nvPr/>
        </p:nvSpPr>
        <p:spPr>
          <a:xfrm>
            <a:off x="2408475" y="4165302"/>
            <a:ext cx="2413138" cy="251420"/>
          </a:xfrm>
          <a:prstGeom prst="roundRect">
            <a:avLst>
              <a:gd name="adj" fmla="val 22103"/>
            </a:avLst>
          </a:prstGeom>
          <a:noFill/>
          <a:ln w="12700">
            <a:solidFill>
              <a:srgbClr val="6296FF"/>
            </a:solidFill>
            <a:prstDash val="solid"/>
          </a:ln>
        </p:spPr>
      </p:sp>
      <p:pic>
        <p:nvPicPr>
          <p:cNvPr id="9" name="Image 2" descr="preencoded.png">    </p:cNvPr>
          <p:cNvPicPr>
            <a:picLocks noChangeAspect="1"/>
          </p:cNvPicPr>
          <p:nvPr/>
        </p:nvPicPr>
        <p:blipFill>
          <a:blip r:embed="rId3"/>
          <a:stretch>
            <a:fillRect/>
          </a:stretch>
        </p:blipFill>
        <p:spPr>
          <a:xfrm>
            <a:off x="2507691" y="4224834"/>
            <a:ext cx="132255" cy="132259"/>
          </a:xfrm>
          <a:prstGeom prst="rect">
            <a:avLst/>
          </a:prstGeom>
        </p:spPr>
      </p:pic>
      <p:sp>
        <p:nvSpPr>
          <p:cNvPr id="10" name="Text 5"/>
          <p:cNvSpPr/>
          <p:nvPr/>
        </p:nvSpPr>
        <p:spPr>
          <a:xfrm>
            <a:off x="2706024" y="4214912"/>
            <a:ext cx="2625957" cy="152202"/>
          </a:xfrm>
          <a:prstGeom prst="rect">
            <a:avLst/>
          </a:prstGeom>
          <a:noFill/>
          <a:ln/>
        </p:spPr>
        <p:txBody>
          <a:bodyPr wrap="none" lIns="0" tIns="0" rIns="0" bIns="0" rtlCol="0" anchor="t"/>
          <a:lstStyle/>
          <a:p>
            <a:pPr algn="l" indent="0" marL="0">
              <a:lnSpc>
                <a:spcPct val="96000"/>
              </a:lnSpc>
              <a:buNone/>
            </a:pPr>
            <a:r>
              <a:rPr lang="en-US" sz="1000" dirty="0">
                <a:solidFill>
                  <a:srgbClr val="6296FF"/>
                </a:solidFill>
                <a:latin typeface="Geist" pitchFamily="34" charset="0"/>
                <a:ea typeface="Geist" pitchFamily="34" charset="-122"/>
                <a:cs typeface="Geist" pitchFamily="34" charset="-120"/>
              </a:rPr>
              <a:t>CUSTOMER CHURN PREDICTION</a:t>
            </a:r>
            <a:endParaRPr lang="en-US" sz="1000" dirty="0"/>
          </a:p>
        </p:txBody>
      </p:sp>
      <p:sp>
        <p:nvSpPr>
          <p:cNvPr id="11" name="Shape 6"/>
          <p:cNvSpPr/>
          <p:nvPr/>
        </p:nvSpPr>
        <p:spPr>
          <a:xfrm>
            <a:off x="4904260" y="4165302"/>
            <a:ext cx="1411054" cy="251420"/>
          </a:xfrm>
          <a:prstGeom prst="roundRect">
            <a:avLst>
              <a:gd name="adj" fmla="val 22103"/>
            </a:avLst>
          </a:prstGeom>
          <a:noFill/>
          <a:ln w="12700">
            <a:solidFill>
              <a:srgbClr val="6296FF"/>
            </a:solidFill>
            <a:prstDash val="solid"/>
          </a:ln>
        </p:spPr>
      </p:sp>
      <p:pic>
        <p:nvPicPr>
          <p:cNvPr id="12" name="Image 3" descr="preencoded.png">    </p:cNvPr>
          <p:cNvPicPr>
            <a:picLocks noChangeAspect="1"/>
          </p:cNvPicPr>
          <p:nvPr/>
        </p:nvPicPr>
        <p:blipFill>
          <a:blip r:embed="rId4"/>
          <a:stretch>
            <a:fillRect/>
          </a:stretch>
        </p:blipFill>
        <p:spPr>
          <a:xfrm>
            <a:off x="5003476" y="4224834"/>
            <a:ext cx="132255" cy="132259"/>
          </a:xfrm>
          <a:prstGeom prst="rect">
            <a:avLst/>
          </a:prstGeom>
        </p:spPr>
      </p:pic>
      <p:sp>
        <p:nvSpPr>
          <p:cNvPr id="13" name="Text 7"/>
          <p:cNvSpPr/>
          <p:nvPr/>
        </p:nvSpPr>
        <p:spPr>
          <a:xfrm>
            <a:off x="5201810" y="4214912"/>
            <a:ext cx="1623873" cy="152202"/>
          </a:xfrm>
          <a:prstGeom prst="rect">
            <a:avLst/>
          </a:prstGeom>
          <a:noFill/>
          <a:ln/>
        </p:spPr>
        <p:txBody>
          <a:bodyPr wrap="none" lIns="0" tIns="0" rIns="0" bIns="0" rtlCol="0" anchor="t"/>
          <a:lstStyle/>
          <a:p>
            <a:pPr algn="l" indent="0" marL="0">
              <a:lnSpc>
                <a:spcPct val="96000"/>
              </a:lnSpc>
              <a:buNone/>
            </a:pPr>
            <a:r>
              <a:rPr lang="en-US" sz="1000" dirty="0">
                <a:solidFill>
                  <a:srgbClr val="6296FF"/>
                </a:solidFill>
                <a:latin typeface="Geist" pitchFamily="34" charset="0"/>
                <a:ea typeface="Geist" pitchFamily="34" charset="-122"/>
                <a:cs typeface="Geist" pitchFamily="34" charset="-120"/>
              </a:rPr>
              <a:t>EXPLAINABLE AI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491728"/>
            <a:ext cx="6296860" cy="512266"/>
          </a:xfrm>
          <a:prstGeom prst="rect">
            <a:avLst/>
          </a:prstGeom>
          <a:noFill/>
          <a:ln/>
        </p:spPr>
        <p:txBody>
          <a:bodyPr wrap="none" lIns="0" tIns="0" rIns="0" bIns="0" rtlCol="0" anchor="t"/>
          <a:lstStyle/>
          <a:p>
            <a:pPr algn="l" indent="0" marL="0">
              <a:lnSpc>
                <a:spcPct val="108000"/>
              </a:lnSpc>
              <a:buNone/>
            </a:pPr>
            <a:r>
              <a:rPr lang="en-US" sz="3100" b="1" spc="-62" kern="0" dirty="0">
                <a:solidFill>
                  <a:srgbClr val="F2F5FA"/>
                </a:solidFill>
                <a:latin typeface="Geist Bold" pitchFamily="34" charset="0"/>
                <a:ea typeface="Geist Bold" pitchFamily="34" charset="-122"/>
                <a:cs typeface="Geist Bold" pitchFamily="34" charset="-120"/>
              </a:rPr>
              <a:t>The Business Problem</a:t>
            </a:r>
            <a:endParaRPr lang="en-US" sz="3100" dirty="0"/>
          </a:p>
        </p:txBody>
      </p:sp>
      <p:sp>
        <p:nvSpPr>
          <p:cNvPr id="4" name="Shape 1"/>
          <p:cNvSpPr/>
          <p:nvPr/>
        </p:nvSpPr>
        <p:spPr>
          <a:xfrm>
            <a:off x="547971" y="1229320"/>
            <a:ext cx="3517217" cy="5136852"/>
          </a:xfrm>
          <a:prstGeom prst="roundRect">
            <a:avLst>
              <a:gd name="adj" fmla="val 3227"/>
            </a:avLst>
          </a:prstGeom>
          <a:solidFill>
            <a:srgbClr val="1E3A8A">
              <a:alpha val="95000"/>
            </a:srgbClr>
          </a:solidFill>
          <a:ln/>
        </p:spPr>
      </p:sp>
      <p:sp>
        <p:nvSpPr>
          <p:cNvPr id="5" name="Text 2"/>
          <p:cNvSpPr/>
          <p:nvPr/>
        </p:nvSpPr>
        <p:spPr>
          <a:xfrm>
            <a:off x="705527" y="1379538"/>
            <a:ext cx="3202106" cy="256084"/>
          </a:xfrm>
          <a:prstGeom prst="rect">
            <a:avLst/>
          </a:prstGeom>
          <a:noFill/>
          <a:ln/>
        </p:spPr>
        <p:txBody>
          <a:bodyPr wrap="none" lIns="0" tIns="0" rIns="0" bIns="0" rtlCol="0" anchor="t"/>
          <a:lstStyle/>
          <a:p>
            <a:pPr algn="l" indent="0" marL="0">
              <a:lnSpc>
                <a:spcPct val="108000"/>
              </a:lnSpc>
              <a:buNone/>
            </a:pPr>
            <a:r>
              <a:rPr lang="en-US" sz="1550" b="1" spc="-31" kern="0" dirty="0">
                <a:solidFill>
                  <a:srgbClr val="F2F5FA"/>
                </a:solidFill>
                <a:latin typeface="Geist Bold" pitchFamily="34" charset="0"/>
                <a:ea typeface="Geist Bold" pitchFamily="34" charset="-122"/>
                <a:cs typeface="Geist Bold" pitchFamily="34" charset="-120"/>
              </a:rPr>
              <a:t>Revenue Leakage at Scale</a:t>
            </a:r>
            <a:endParaRPr lang="en-US" sz="1550" dirty="0"/>
          </a:p>
        </p:txBody>
      </p:sp>
      <p:sp>
        <p:nvSpPr>
          <p:cNvPr id="6" name="Text 3"/>
          <p:cNvSpPr/>
          <p:nvPr/>
        </p:nvSpPr>
        <p:spPr>
          <a:xfrm>
            <a:off x="705527" y="1785838"/>
            <a:ext cx="3202106" cy="1400870"/>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ConnectTel loses </a:t>
            </a:r>
            <a:pPr algn="l" indent="0" marL="0">
              <a:lnSpc>
                <a:spcPct val="106000"/>
              </a:lnSpc>
              <a:buNone/>
            </a:pPr>
            <a:r>
              <a:rPr lang="en-US" sz="1200" b="1" dirty="0">
                <a:solidFill>
                  <a:srgbClr val="EBEDF0"/>
                </a:solidFill>
                <a:latin typeface="Geist Bold" pitchFamily="34" charset="0"/>
                <a:ea typeface="Geist Bold" pitchFamily="34" charset="-122"/>
                <a:cs typeface="Geist Bold" pitchFamily="34" charset="-120"/>
              </a:rPr>
              <a:t>recurring revenue</a:t>
            </a:r>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 every time a customer cancels and switches to a competitor. The economics are asymmetric: acquiring a new customer costs significantly more than retaining an existing one — making churn a direct threat to profitability, not just a customer-satisfaction metric.</a:t>
            </a:r>
            <a:endParaRPr lang="en-US" sz="1200" dirty="0"/>
          </a:p>
        </p:txBody>
      </p:sp>
      <p:sp>
        <p:nvSpPr>
          <p:cNvPr id="7" name="Shape 4"/>
          <p:cNvSpPr/>
          <p:nvPr/>
        </p:nvSpPr>
        <p:spPr>
          <a:xfrm>
            <a:off x="705527" y="3355677"/>
            <a:ext cx="3202106" cy="749300"/>
          </a:xfrm>
          <a:prstGeom prst="roundRect">
            <a:avLst>
              <a:gd name="adj" fmla="val 8836"/>
            </a:avLst>
          </a:prstGeom>
          <a:solidFill>
            <a:srgbClr val="002A80"/>
          </a:solidFill>
          <a:ln/>
        </p:spPr>
      </p:sp>
      <p:pic>
        <p:nvPicPr>
          <p:cNvPr id="8" name="Image 1" descr="preencoded.png">    </p:cNvPr>
          <p:cNvPicPr>
            <a:picLocks noChangeAspect="1"/>
          </p:cNvPicPr>
          <p:nvPr/>
        </p:nvPicPr>
        <p:blipFill>
          <a:blip r:embed="rId2"/>
          <a:stretch>
            <a:fillRect/>
          </a:stretch>
        </p:blipFill>
        <p:spPr>
          <a:xfrm>
            <a:off x="863082" y="3559770"/>
            <a:ext cx="197044" cy="157559"/>
          </a:xfrm>
          <a:prstGeom prst="rect">
            <a:avLst/>
          </a:prstGeom>
        </p:spPr>
      </p:pic>
      <p:sp>
        <p:nvSpPr>
          <p:cNvPr id="9" name="Text 5"/>
          <p:cNvSpPr/>
          <p:nvPr/>
        </p:nvSpPr>
        <p:spPr>
          <a:xfrm>
            <a:off x="1217681" y="3530203"/>
            <a:ext cx="2532396" cy="40024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FFFFFF"/>
                </a:solidFill>
                <a:latin typeface="Geist" pitchFamily="34" charset="0"/>
                <a:ea typeface="Geist" pitchFamily="34" charset="-122"/>
                <a:cs typeface="Geist" pitchFamily="34" charset="-120"/>
              </a:rPr>
              <a:t>Goal: Actionable churn prediction, not just high accuracy.</a:t>
            </a:r>
            <a:endParaRPr lang="en-US" sz="1200" dirty="0"/>
          </a:p>
        </p:txBody>
      </p:sp>
      <p:sp>
        <p:nvSpPr>
          <p:cNvPr id="10" name="Text 6"/>
          <p:cNvSpPr/>
          <p:nvPr/>
        </p:nvSpPr>
        <p:spPr>
          <a:xfrm>
            <a:off x="4342597" y="1379538"/>
            <a:ext cx="2621988" cy="512167"/>
          </a:xfrm>
          <a:prstGeom prst="rect">
            <a:avLst/>
          </a:prstGeom>
          <a:noFill/>
          <a:ln/>
        </p:spPr>
        <p:txBody>
          <a:bodyPr wrap="square" lIns="0" tIns="0" rIns="0" bIns="0" rtlCol="0" anchor="t">
            <a:normAutofit/>
          </a:bodyPr>
          <a:lstStyle/>
          <a:p>
            <a:pPr algn="l" indent="0" marL="0">
              <a:lnSpc>
                <a:spcPct val="108000"/>
              </a:lnSpc>
              <a:buNone/>
            </a:pPr>
            <a:r>
              <a:rPr lang="en-US" sz="1550" b="1" spc="-31" kern="0" dirty="0">
                <a:solidFill>
                  <a:srgbClr val="F2F5FA"/>
                </a:solidFill>
                <a:latin typeface="Geist Bold" pitchFamily="34" charset="0"/>
                <a:ea typeface="Geist Bold" pitchFamily="34" charset="-122"/>
                <a:cs typeface="Geist Bold" pitchFamily="34" charset="-120"/>
              </a:rPr>
              <a:t>What the Retention Team Needs</a:t>
            </a:r>
            <a:endParaRPr lang="en-US" sz="1550" dirty="0"/>
          </a:p>
        </p:txBody>
      </p:sp>
      <p:sp>
        <p:nvSpPr>
          <p:cNvPr id="11" name="Shape 7"/>
          <p:cNvSpPr/>
          <p:nvPr/>
        </p:nvSpPr>
        <p:spPr>
          <a:xfrm>
            <a:off x="4342597" y="2060674"/>
            <a:ext cx="354599" cy="354608"/>
          </a:xfrm>
          <a:prstGeom prst="roundRect">
            <a:avLst>
              <a:gd name="adj" fmla="val 18671"/>
            </a:avLst>
          </a:prstGeom>
          <a:solidFill>
            <a:srgbClr val="101620"/>
          </a:solidFill>
          <a:ln w="19050">
            <a:solidFill>
              <a:srgbClr val="002A80"/>
            </a:solidFill>
            <a:prstDash val="solid"/>
          </a:ln>
        </p:spPr>
      </p:sp>
      <p:sp>
        <p:nvSpPr>
          <p:cNvPr id="12" name="Text 8"/>
          <p:cNvSpPr/>
          <p:nvPr/>
        </p:nvSpPr>
        <p:spPr>
          <a:xfrm>
            <a:off x="4401680" y="2084288"/>
            <a:ext cx="236432" cy="307380"/>
          </a:xfrm>
          <a:prstGeom prst="rect">
            <a:avLst/>
          </a:prstGeom>
          <a:noFill/>
          <a:ln/>
        </p:spPr>
        <p:txBody>
          <a:bodyPr wrap="none" lIns="0" tIns="0" rIns="0" bIns="0" rtlCol="0" anchor="ctr"/>
          <a:lstStyle/>
          <a:p>
            <a:pPr algn="ctr" indent="0" marL="0">
              <a:lnSpc>
                <a:spcPct val="100000"/>
              </a:lnSpc>
              <a:buNone/>
            </a:pPr>
            <a:r>
              <a:rPr lang="en-US" sz="1850" b="1" spc="-37" kern="0" dirty="0">
                <a:solidFill>
                  <a:srgbClr val="EBEDF0"/>
                </a:solidFill>
                <a:latin typeface="Geist Bold" pitchFamily="34" charset="0"/>
                <a:ea typeface="Geist Bold" pitchFamily="34" charset="-122"/>
                <a:cs typeface="Geist Bold" pitchFamily="34" charset="-120"/>
              </a:rPr>
              <a:t>1</a:t>
            </a:r>
            <a:endParaRPr lang="en-US" sz="1850" dirty="0"/>
          </a:p>
        </p:txBody>
      </p:sp>
      <p:sp>
        <p:nvSpPr>
          <p:cNvPr id="13" name="Text 9"/>
          <p:cNvSpPr/>
          <p:nvPr/>
        </p:nvSpPr>
        <p:spPr>
          <a:xfrm>
            <a:off x="4847409" y="2109887"/>
            <a:ext cx="2117176" cy="512167"/>
          </a:xfrm>
          <a:prstGeom prst="rect">
            <a:avLst/>
          </a:prstGeom>
          <a:noFill/>
          <a:ln/>
        </p:spPr>
        <p:txBody>
          <a:bodyPr wrap="square" lIns="0" tIns="0" rIns="0" bIns="0" rtlCol="0" anchor="t">
            <a:normAutofit/>
          </a:bodyPr>
          <a:lstStyle/>
          <a:p>
            <a:pPr algn="l" indent="0" marL="0">
              <a:lnSpc>
                <a:spcPct val="108000"/>
              </a:lnSpc>
              <a:buNone/>
            </a:pPr>
            <a:r>
              <a:rPr lang="en-US" sz="1550" b="1" spc="-31" kern="0" dirty="0">
                <a:solidFill>
                  <a:srgbClr val="EBEDF0"/>
                </a:solidFill>
                <a:latin typeface="Geist Bold" pitchFamily="34" charset="0"/>
                <a:ea typeface="Geist Bold" pitchFamily="34" charset="-122"/>
                <a:cs typeface="Geist Bold" pitchFamily="34" charset="-120"/>
              </a:rPr>
              <a:t>Predict at-risk customers</a:t>
            </a:r>
            <a:endParaRPr lang="en-US" sz="1550" dirty="0"/>
          </a:p>
        </p:txBody>
      </p:sp>
      <p:sp>
        <p:nvSpPr>
          <p:cNvPr id="14" name="Text 10"/>
          <p:cNvSpPr/>
          <p:nvPr/>
        </p:nvSpPr>
        <p:spPr>
          <a:xfrm>
            <a:off x="4847409" y="2772271"/>
            <a:ext cx="2117176" cy="40024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Identify who is likely to churn before cancellation occurs.</a:t>
            </a:r>
            <a:endParaRPr lang="en-US" sz="1200" dirty="0"/>
          </a:p>
        </p:txBody>
      </p:sp>
      <p:sp>
        <p:nvSpPr>
          <p:cNvPr id="15" name="Shape 11"/>
          <p:cNvSpPr/>
          <p:nvPr/>
        </p:nvSpPr>
        <p:spPr>
          <a:xfrm>
            <a:off x="4342597" y="3472954"/>
            <a:ext cx="354599" cy="354608"/>
          </a:xfrm>
          <a:prstGeom prst="roundRect">
            <a:avLst>
              <a:gd name="adj" fmla="val 18671"/>
            </a:avLst>
          </a:prstGeom>
          <a:solidFill>
            <a:srgbClr val="101620"/>
          </a:solidFill>
          <a:ln w="19050">
            <a:solidFill>
              <a:srgbClr val="002A80"/>
            </a:solidFill>
            <a:prstDash val="solid"/>
          </a:ln>
        </p:spPr>
      </p:sp>
      <p:sp>
        <p:nvSpPr>
          <p:cNvPr id="16" name="Text 12"/>
          <p:cNvSpPr/>
          <p:nvPr/>
        </p:nvSpPr>
        <p:spPr>
          <a:xfrm>
            <a:off x="4401680" y="3496568"/>
            <a:ext cx="236432" cy="307380"/>
          </a:xfrm>
          <a:prstGeom prst="rect">
            <a:avLst/>
          </a:prstGeom>
          <a:noFill/>
          <a:ln/>
        </p:spPr>
        <p:txBody>
          <a:bodyPr wrap="none" lIns="0" tIns="0" rIns="0" bIns="0" rtlCol="0" anchor="ctr"/>
          <a:lstStyle/>
          <a:p>
            <a:pPr algn="ctr" indent="0" marL="0">
              <a:lnSpc>
                <a:spcPct val="100000"/>
              </a:lnSpc>
              <a:buNone/>
            </a:pPr>
            <a:r>
              <a:rPr lang="en-US" sz="1850" b="1" spc="-37" kern="0" dirty="0">
                <a:solidFill>
                  <a:srgbClr val="EBEDF0"/>
                </a:solidFill>
                <a:latin typeface="Geist Bold" pitchFamily="34" charset="0"/>
                <a:ea typeface="Geist Bold" pitchFamily="34" charset="-122"/>
                <a:cs typeface="Geist Bold" pitchFamily="34" charset="-120"/>
              </a:rPr>
              <a:t>2</a:t>
            </a:r>
            <a:endParaRPr lang="en-US" sz="1850" dirty="0"/>
          </a:p>
        </p:txBody>
      </p:sp>
      <p:sp>
        <p:nvSpPr>
          <p:cNvPr id="17" name="Text 13"/>
          <p:cNvSpPr/>
          <p:nvPr/>
        </p:nvSpPr>
        <p:spPr>
          <a:xfrm>
            <a:off x="4847409" y="3522166"/>
            <a:ext cx="2117176" cy="512167"/>
          </a:xfrm>
          <a:prstGeom prst="rect">
            <a:avLst/>
          </a:prstGeom>
          <a:noFill/>
          <a:ln/>
        </p:spPr>
        <p:txBody>
          <a:bodyPr wrap="square" lIns="0" tIns="0" rIns="0" bIns="0" rtlCol="0" anchor="t">
            <a:normAutofit/>
          </a:bodyPr>
          <a:lstStyle/>
          <a:p>
            <a:pPr algn="l" indent="0" marL="0">
              <a:lnSpc>
                <a:spcPct val="108000"/>
              </a:lnSpc>
              <a:buNone/>
            </a:pPr>
            <a:r>
              <a:rPr lang="en-US" sz="1550" b="1" spc="-31" kern="0" dirty="0">
                <a:solidFill>
                  <a:srgbClr val="EBEDF0"/>
                </a:solidFill>
                <a:latin typeface="Geist Bold" pitchFamily="34" charset="0"/>
                <a:ea typeface="Geist Bold" pitchFamily="34" charset="-122"/>
                <a:cs typeface="Geist Bold" pitchFamily="34" charset="-120"/>
              </a:rPr>
              <a:t>Flag high-risk profiles early</a:t>
            </a:r>
            <a:endParaRPr lang="en-US" sz="1550" dirty="0"/>
          </a:p>
        </p:txBody>
      </p:sp>
      <p:sp>
        <p:nvSpPr>
          <p:cNvPr id="18" name="Text 14"/>
          <p:cNvSpPr/>
          <p:nvPr/>
        </p:nvSpPr>
        <p:spPr>
          <a:xfrm>
            <a:off x="4847409" y="4184551"/>
            <a:ext cx="2117176" cy="40024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Surface warning signals with enough lead time to act.</a:t>
            </a:r>
            <a:endParaRPr lang="en-US" sz="1200" dirty="0"/>
          </a:p>
        </p:txBody>
      </p:sp>
      <p:sp>
        <p:nvSpPr>
          <p:cNvPr id="19" name="Shape 15"/>
          <p:cNvSpPr/>
          <p:nvPr/>
        </p:nvSpPr>
        <p:spPr>
          <a:xfrm>
            <a:off x="4342597" y="4885234"/>
            <a:ext cx="354599" cy="354608"/>
          </a:xfrm>
          <a:prstGeom prst="roundRect">
            <a:avLst>
              <a:gd name="adj" fmla="val 18671"/>
            </a:avLst>
          </a:prstGeom>
          <a:solidFill>
            <a:srgbClr val="101620"/>
          </a:solidFill>
          <a:ln w="19050">
            <a:solidFill>
              <a:srgbClr val="002A80"/>
            </a:solidFill>
            <a:prstDash val="solid"/>
          </a:ln>
        </p:spPr>
      </p:sp>
      <p:sp>
        <p:nvSpPr>
          <p:cNvPr id="20" name="Text 16"/>
          <p:cNvSpPr/>
          <p:nvPr/>
        </p:nvSpPr>
        <p:spPr>
          <a:xfrm>
            <a:off x="4401680" y="4908848"/>
            <a:ext cx="236432" cy="307380"/>
          </a:xfrm>
          <a:prstGeom prst="rect">
            <a:avLst/>
          </a:prstGeom>
          <a:noFill/>
          <a:ln/>
        </p:spPr>
        <p:txBody>
          <a:bodyPr wrap="none" lIns="0" tIns="0" rIns="0" bIns="0" rtlCol="0" anchor="ctr"/>
          <a:lstStyle/>
          <a:p>
            <a:pPr algn="ctr" indent="0" marL="0">
              <a:lnSpc>
                <a:spcPct val="100000"/>
              </a:lnSpc>
              <a:buNone/>
            </a:pPr>
            <a:r>
              <a:rPr lang="en-US" sz="1850" b="1" spc="-37" kern="0" dirty="0">
                <a:solidFill>
                  <a:srgbClr val="EBEDF0"/>
                </a:solidFill>
                <a:latin typeface="Geist Bold" pitchFamily="34" charset="0"/>
                <a:ea typeface="Geist Bold" pitchFamily="34" charset="-122"/>
                <a:cs typeface="Geist Bold" pitchFamily="34" charset="-120"/>
              </a:rPr>
              <a:t>3</a:t>
            </a:r>
            <a:endParaRPr lang="en-US" sz="1850" dirty="0"/>
          </a:p>
        </p:txBody>
      </p:sp>
      <p:sp>
        <p:nvSpPr>
          <p:cNvPr id="21" name="Text 17"/>
          <p:cNvSpPr/>
          <p:nvPr/>
        </p:nvSpPr>
        <p:spPr>
          <a:xfrm>
            <a:off x="4847409" y="4934446"/>
            <a:ext cx="2117176" cy="512167"/>
          </a:xfrm>
          <a:prstGeom prst="rect">
            <a:avLst/>
          </a:prstGeom>
          <a:noFill/>
          <a:ln/>
        </p:spPr>
        <p:txBody>
          <a:bodyPr wrap="square" lIns="0" tIns="0" rIns="0" bIns="0" rtlCol="0" anchor="t">
            <a:normAutofit/>
          </a:bodyPr>
          <a:lstStyle/>
          <a:p>
            <a:pPr algn="l" indent="0" marL="0">
              <a:lnSpc>
                <a:spcPct val="108000"/>
              </a:lnSpc>
              <a:buNone/>
            </a:pPr>
            <a:r>
              <a:rPr lang="en-US" sz="1550" b="1" spc="-31" kern="0" dirty="0">
                <a:solidFill>
                  <a:srgbClr val="EBEDF0"/>
                </a:solidFill>
                <a:latin typeface="Geist Bold" pitchFamily="34" charset="0"/>
                <a:ea typeface="Geist Bold" pitchFamily="34" charset="-122"/>
                <a:cs typeface="Geist Bold" pitchFamily="34" charset="-120"/>
              </a:rPr>
              <a:t>Enable proactive intervention</a:t>
            </a:r>
            <a:endParaRPr lang="en-US" sz="1550" dirty="0"/>
          </a:p>
        </p:txBody>
      </p:sp>
      <p:sp>
        <p:nvSpPr>
          <p:cNvPr id="22" name="Text 18"/>
          <p:cNvSpPr/>
          <p:nvPr/>
        </p:nvSpPr>
        <p:spPr>
          <a:xfrm>
            <a:off x="4847409" y="5596830"/>
            <a:ext cx="2117176" cy="600373"/>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Empower retention agents to reach customers before they leave.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51954"/>
            <a:ext cx="10868745" cy="537468"/>
          </a:xfrm>
          <a:prstGeom prst="rect">
            <a:avLst/>
          </a:prstGeom>
          <a:noFill/>
          <a:ln/>
        </p:spPr>
        <p:txBody>
          <a:bodyPr wrap="none" lIns="0" tIns="0" rIns="0" bIns="0" rtlCol="0" anchor="t"/>
          <a:lstStyle/>
          <a:p>
            <a:pPr algn="l" indent="0" marL="0">
              <a:lnSpc>
                <a:spcPct val="108000"/>
              </a:lnSpc>
              <a:buNone/>
            </a:pPr>
            <a:r>
              <a:rPr lang="en-US" sz="3250" b="1" spc="-65" kern="0" dirty="0">
                <a:solidFill>
                  <a:srgbClr val="F2F5FA"/>
                </a:solidFill>
                <a:latin typeface="Geist Bold" pitchFamily="34" charset="0"/>
                <a:ea typeface="Geist Bold" pitchFamily="34" charset="-122"/>
                <a:cs typeface="Geist Bold" pitchFamily="34" charset="-120"/>
              </a:rPr>
              <a:t>Project Objective</a:t>
            </a:r>
            <a:endParaRPr lang="en-US" sz="3250" dirty="0"/>
          </a:p>
        </p:txBody>
      </p:sp>
      <p:sp>
        <p:nvSpPr>
          <p:cNvPr id="3" name="Text 1"/>
          <p:cNvSpPr/>
          <p:nvPr/>
        </p:nvSpPr>
        <p:spPr>
          <a:xfrm>
            <a:off x="661475" y="1420118"/>
            <a:ext cx="10868745" cy="430014"/>
          </a:xfrm>
          <a:prstGeom prst="rect">
            <a:avLst/>
          </a:prstGeom>
          <a:noFill/>
          <a:ln/>
        </p:spPr>
        <p:txBody>
          <a:bodyPr wrap="square" lIns="0" tIns="0" rIns="0" bIns="0" rtlCol="0" anchor="t">
            <a:normAutofit/>
          </a:bodyPr>
          <a:lstStyle/>
          <a:p>
            <a:pPr algn="l" indent="0" marL="0">
              <a:lnSpc>
                <a:spcPct val="108000"/>
              </a:lnSpc>
              <a:buNone/>
            </a:pPr>
            <a:r>
              <a:rPr lang="en-US" sz="1300" b="1" dirty="0">
                <a:solidFill>
                  <a:srgbClr val="EBEDF0"/>
                </a:solidFill>
                <a:latin typeface="Geist Bold" pitchFamily="34" charset="0"/>
                <a:ea typeface="Geist Bold" pitchFamily="34" charset="-122"/>
                <a:cs typeface="Geist Bold" pitchFamily="34" charset="-120"/>
              </a:rPr>
              <a:t>Predict which customers are most likely to churn early enough for the retention team to intervene — with predictions that are interpretable, reliable, and actionable.</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110581"/>
            <a:ext cx="165294" cy="165298"/>
          </a:xfrm>
          <a:prstGeom prst="rect">
            <a:avLst/>
          </a:prstGeom>
        </p:spPr>
      </p:pic>
      <p:sp>
        <p:nvSpPr>
          <p:cNvPr id="5" name="Shape 2"/>
          <p:cNvSpPr/>
          <p:nvPr/>
        </p:nvSpPr>
        <p:spPr>
          <a:xfrm>
            <a:off x="661475" y="2306439"/>
            <a:ext cx="5351725" cy="19050"/>
          </a:xfrm>
          <a:prstGeom prst="rect">
            <a:avLst/>
          </a:prstGeom>
          <a:solidFill>
            <a:srgbClr val="487CFF"/>
          </a:solidFill>
          <a:ln/>
        </p:spPr>
      </p:sp>
      <p:sp>
        <p:nvSpPr>
          <p:cNvPr id="6" name="Text 3"/>
          <p:cNvSpPr/>
          <p:nvPr/>
        </p:nvSpPr>
        <p:spPr>
          <a:xfrm>
            <a:off x="661475" y="2427188"/>
            <a:ext cx="535172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Understand Patterns</a:t>
            </a:r>
            <a:endParaRPr lang="en-US" sz="1600" dirty="0"/>
          </a:p>
        </p:txBody>
      </p:sp>
      <p:sp>
        <p:nvSpPr>
          <p:cNvPr id="7" name="Text 4"/>
          <p:cNvSpPr/>
          <p:nvPr/>
        </p:nvSpPr>
        <p:spPr>
          <a:xfrm>
            <a:off x="661475" y="2795191"/>
            <a:ext cx="5351725" cy="430014"/>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Analyze customer data and surface meaningful churn signals through rigorous EDA.</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2110581"/>
            <a:ext cx="165294" cy="165298"/>
          </a:xfrm>
          <a:prstGeom prst="rect">
            <a:avLst/>
          </a:prstGeom>
        </p:spPr>
      </p:pic>
      <p:sp>
        <p:nvSpPr>
          <p:cNvPr id="9" name="Shape 5"/>
          <p:cNvSpPr/>
          <p:nvPr/>
        </p:nvSpPr>
        <p:spPr>
          <a:xfrm>
            <a:off x="6178495" y="2306439"/>
            <a:ext cx="5351725" cy="19050"/>
          </a:xfrm>
          <a:prstGeom prst="rect">
            <a:avLst/>
          </a:prstGeom>
          <a:solidFill>
            <a:srgbClr val="487CFF"/>
          </a:solidFill>
          <a:ln/>
        </p:spPr>
      </p:sp>
      <p:sp>
        <p:nvSpPr>
          <p:cNvPr id="10" name="Text 6"/>
          <p:cNvSpPr/>
          <p:nvPr/>
        </p:nvSpPr>
        <p:spPr>
          <a:xfrm>
            <a:off x="6178495" y="2427188"/>
            <a:ext cx="535172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Engineer Features</a:t>
            </a:r>
            <a:endParaRPr lang="en-US" sz="1600" dirty="0"/>
          </a:p>
        </p:txBody>
      </p:sp>
      <p:sp>
        <p:nvSpPr>
          <p:cNvPr id="11" name="Text 7"/>
          <p:cNvSpPr/>
          <p:nvPr/>
        </p:nvSpPr>
        <p:spPr>
          <a:xfrm>
            <a:off x="6178495" y="2795191"/>
            <a:ext cx="5351725" cy="430014"/>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Transform raw fields into predictive inputs that capture spending behavior and service engagement.</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555901"/>
            <a:ext cx="165294" cy="165298"/>
          </a:xfrm>
          <a:prstGeom prst="rect">
            <a:avLst/>
          </a:prstGeom>
        </p:spPr>
      </p:pic>
      <p:sp>
        <p:nvSpPr>
          <p:cNvPr id="13" name="Shape 8"/>
          <p:cNvSpPr/>
          <p:nvPr/>
        </p:nvSpPr>
        <p:spPr>
          <a:xfrm>
            <a:off x="661475" y="3768328"/>
            <a:ext cx="5351725" cy="19050"/>
          </a:xfrm>
          <a:prstGeom prst="rect">
            <a:avLst/>
          </a:prstGeom>
          <a:solidFill>
            <a:srgbClr val="487CFF"/>
          </a:solidFill>
          <a:ln/>
        </p:spPr>
      </p:sp>
      <p:sp>
        <p:nvSpPr>
          <p:cNvPr id="14" name="Text 9"/>
          <p:cNvSpPr/>
          <p:nvPr/>
        </p:nvSpPr>
        <p:spPr>
          <a:xfrm>
            <a:off x="661475" y="3905548"/>
            <a:ext cx="535172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Train &amp; Compare Models</a:t>
            </a:r>
            <a:endParaRPr lang="en-US" sz="1600" dirty="0"/>
          </a:p>
        </p:txBody>
      </p:sp>
      <p:sp>
        <p:nvSpPr>
          <p:cNvPr id="15" name="Text 10"/>
          <p:cNvSpPr/>
          <p:nvPr/>
        </p:nvSpPr>
        <p:spPr>
          <a:xfrm>
            <a:off x="661475" y="4273550"/>
            <a:ext cx="5351725" cy="430014"/>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Benchmark multiple ML families to identify the strongest performer on this dataset.</a:t>
            </a:r>
            <a:endParaRPr lang="en-US" sz="13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8495" y="3555901"/>
            <a:ext cx="165294" cy="165298"/>
          </a:xfrm>
          <a:prstGeom prst="rect">
            <a:avLst/>
          </a:prstGeom>
        </p:spPr>
      </p:pic>
      <p:sp>
        <p:nvSpPr>
          <p:cNvPr id="17" name="Shape 11"/>
          <p:cNvSpPr/>
          <p:nvPr/>
        </p:nvSpPr>
        <p:spPr>
          <a:xfrm>
            <a:off x="6178495" y="3768328"/>
            <a:ext cx="5351725" cy="19050"/>
          </a:xfrm>
          <a:prstGeom prst="rect">
            <a:avLst/>
          </a:prstGeom>
          <a:solidFill>
            <a:srgbClr val="487CFF"/>
          </a:solidFill>
          <a:ln/>
        </p:spPr>
      </p:sp>
      <p:sp>
        <p:nvSpPr>
          <p:cNvPr id="18" name="Text 12"/>
          <p:cNvSpPr/>
          <p:nvPr/>
        </p:nvSpPr>
        <p:spPr>
          <a:xfrm>
            <a:off x="6178495" y="3905548"/>
            <a:ext cx="535172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Evaluate Rigorously</a:t>
            </a:r>
            <a:endParaRPr lang="en-US" sz="1600" dirty="0"/>
          </a:p>
        </p:txBody>
      </p:sp>
      <p:sp>
        <p:nvSpPr>
          <p:cNvPr id="19" name="Text 13"/>
          <p:cNvSpPr/>
          <p:nvPr/>
        </p:nvSpPr>
        <p:spPr>
          <a:xfrm>
            <a:off x="6178495" y="4273550"/>
            <a:ext cx="5351725" cy="430014"/>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Use business-relevant metrics — not just accuracy — to assess real-world utility.</a:t>
            </a:r>
            <a:endParaRPr lang="en-US" sz="130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001220"/>
            <a:ext cx="165294" cy="165298"/>
          </a:xfrm>
          <a:prstGeom prst="rect">
            <a:avLst/>
          </a:prstGeom>
        </p:spPr>
      </p:pic>
      <p:sp>
        <p:nvSpPr>
          <p:cNvPr id="21" name="Shape 14"/>
          <p:cNvSpPr/>
          <p:nvPr/>
        </p:nvSpPr>
        <p:spPr>
          <a:xfrm>
            <a:off x="661475" y="5230118"/>
            <a:ext cx="5351725" cy="19050"/>
          </a:xfrm>
          <a:prstGeom prst="rect">
            <a:avLst/>
          </a:prstGeom>
          <a:solidFill>
            <a:srgbClr val="487CFF"/>
          </a:solidFill>
          <a:ln/>
        </p:spPr>
      </p:sp>
      <p:sp>
        <p:nvSpPr>
          <p:cNvPr id="22" name="Text 15"/>
          <p:cNvSpPr/>
          <p:nvPr/>
        </p:nvSpPr>
        <p:spPr>
          <a:xfrm>
            <a:off x="661475" y="5383907"/>
            <a:ext cx="535172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Explain with SHAP</a:t>
            </a:r>
            <a:endParaRPr lang="en-US" sz="1600" dirty="0"/>
          </a:p>
        </p:txBody>
      </p:sp>
      <p:sp>
        <p:nvSpPr>
          <p:cNvPr id="23" name="Text 16"/>
          <p:cNvSpPr/>
          <p:nvPr/>
        </p:nvSpPr>
        <p:spPr>
          <a:xfrm>
            <a:off x="661475" y="5751909"/>
            <a:ext cx="5351725" cy="430014"/>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Decompose model predictions into interpretable feature contributions for stakeholder trust.</a:t>
            </a:r>
            <a:endParaRPr lang="en-US" sz="130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78495" y="5001220"/>
            <a:ext cx="165294" cy="165298"/>
          </a:xfrm>
          <a:prstGeom prst="rect">
            <a:avLst/>
          </a:prstGeom>
        </p:spPr>
      </p:pic>
      <p:sp>
        <p:nvSpPr>
          <p:cNvPr id="25" name="Shape 17"/>
          <p:cNvSpPr/>
          <p:nvPr/>
        </p:nvSpPr>
        <p:spPr>
          <a:xfrm>
            <a:off x="6178495" y="5230118"/>
            <a:ext cx="5351725" cy="19050"/>
          </a:xfrm>
          <a:prstGeom prst="rect">
            <a:avLst/>
          </a:prstGeom>
          <a:solidFill>
            <a:srgbClr val="487CFF"/>
          </a:solidFill>
          <a:ln/>
        </p:spPr>
      </p:sp>
      <p:sp>
        <p:nvSpPr>
          <p:cNvPr id="26" name="Text 18"/>
          <p:cNvSpPr/>
          <p:nvPr/>
        </p:nvSpPr>
        <p:spPr>
          <a:xfrm>
            <a:off x="6178495" y="5383907"/>
            <a:ext cx="5351725"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Enable Retention Strategy</a:t>
            </a:r>
            <a:endParaRPr lang="en-US" sz="1600" dirty="0"/>
          </a:p>
        </p:txBody>
      </p:sp>
      <p:sp>
        <p:nvSpPr>
          <p:cNvPr id="27" name="Text 19"/>
          <p:cNvSpPr/>
          <p:nvPr/>
        </p:nvSpPr>
        <p:spPr>
          <a:xfrm>
            <a:off x="6178495" y="5751909"/>
            <a:ext cx="5351725" cy="430014"/>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Deliver a prioritized customer list and risk rationale to the retention team.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76052"/>
            <a:ext cx="10868745" cy="512266"/>
          </a:xfrm>
          <a:prstGeom prst="rect">
            <a:avLst/>
          </a:prstGeom>
          <a:noFill/>
          <a:ln/>
        </p:spPr>
        <p:txBody>
          <a:bodyPr wrap="none" lIns="0" tIns="0" rIns="0" bIns="0" rtlCol="0" anchor="t"/>
          <a:lstStyle/>
          <a:p>
            <a:pPr algn="l" indent="0" marL="0">
              <a:lnSpc>
                <a:spcPct val="108000"/>
              </a:lnSpc>
              <a:buNone/>
            </a:pPr>
            <a:r>
              <a:rPr lang="en-US" sz="3100" b="1" spc="-62" kern="0" dirty="0">
                <a:solidFill>
                  <a:srgbClr val="F2F5FA"/>
                </a:solidFill>
                <a:latin typeface="Geist Bold" pitchFamily="34" charset="0"/>
                <a:ea typeface="Geist Bold" pitchFamily="34" charset="-122"/>
                <a:cs typeface="Geist Bold" pitchFamily="34" charset="-120"/>
              </a:rPr>
              <a:t>Dataset Overview</a:t>
            </a:r>
            <a:endParaRPr lang="en-US" sz="3100" dirty="0"/>
          </a:p>
        </p:txBody>
      </p:sp>
      <p:sp>
        <p:nvSpPr>
          <p:cNvPr id="3" name="Text 1"/>
          <p:cNvSpPr/>
          <p:nvPr/>
        </p:nvSpPr>
        <p:spPr>
          <a:xfrm>
            <a:off x="661475" y="1288752"/>
            <a:ext cx="10868745" cy="40024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Telco Customer Churn dataset — a structured record of customer demographics, service subscriptions, and account activity used to model cancellation behavior.</a:t>
            </a:r>
            <a:endParaRPr lang="en-US" sz="1200" dirty="0"/>
          </a:p>
        </p:txBody>
      </p:sp>
      <p:sp>
        <p:nvSpPr>
          <p:cNvPr id="4" name="Text 2"/>
          <p:cNvSpPr/>
          <p:nvPr/>
        </p:nvSpPr>
        <p:spPr>
          <a:xfrm>
            <a:off x="661475" y="2008188"/>
            <a:ext cx="6367402" cy="256084"/>
          </a:xfrm>
          <a:prstGeom prst="rect">
            <a:avLst/>
          </a:prstGeom>
          <a:noFill/>
          <a:ln/>
        </p:spPr>
        <p:txBody>
          <a:bodyPr wrap="none" lIns="0" tIns="0" rIns="0" bIns="0" rtlCol="0" anchor="t"/>
          <a:lstStyle/>
          <a:p>
            <a:pPr algn="l" indent="0" marL="0">
              <a:lnSpc>
                <a:spcPct val="108000"/>
              </a:lnSpc>
              <a:buNone/>
            </a:pPr>
            <a:r>
              <a:rPr lang="en-US" sz="1550" b="1" spc="-31" kern="0" dirty="0">
                <a:solidFill>
                  <a:srgbClr val="F2F5FA"/>
                </a:solidFill>
                <a:latin typeface="Geist Bold" pitchFamily="34" charset="0"/>
                <a:ea typeface="Geist Bold" pitchFamily="34" charset="-122"/>
                <a:cs typeface="Geist Bold" pitchFamily="34" charset="-120"/>
              </a:rPr>
              <a:t>Feature Categories</a:t>
            </a:r>
            <a:endParaRPr lang="en-US" sz="15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33241"/>
            <a:ext cx="6367402" cy="1159768"/>
          </a:xfrm>
          <a:prstGeom prst="rect">
            <a:avLst/>
          </a:prstGeom>
        </p:spPr>
      </p:pic>
      <p:sp>
        <p:nvSpPr>
          <p:cNvPr id="6" name="Text 3"/>
          <p:cNvSpPr/>
          <p:nvPr/>
        </p:nvSpPr>
        <p:spPr>
          <a:xfrm>
            <a:off x="914278" y="2609850"/>
            <a:ext cx="5937994" cy="256084"/>
          </a:xfrm>
          <a:prstGeom prst="rect">
            <a:avLst/>
          </a:prstGeom>
          <a:noFill/>
          <a:ln/>
        </p:spPr>
        <p:txBody>
          <a:bodyPr wrap="none" lIns="0" tIns="0" rIns="0" bIns="0" rtlCol="0" anchor="t"/>
          <a:lstStyle/>
          <a:p>
            <a:pPr algn="l" indent="0" marL="0">
              <a:lnSpc>
                <a:spcPct val="108000"/>
              </a:lnSpc>
              <a:buNone/>
            </a:pPr>
            <a:r>
              <a:rPr lang="en-US" sz="1550" b="1" spc="-31" kern="0" dirty="0">
                <a:solidFill>
                  <a:srgbClr val="EBEDF0"/>
                </a:solidFill>
                <a:latin typeface="Geist Bold" pitchFamily="34" charset="0"/>
                <a:ea typeface="Geist Bold" pitchFamily="34" charset="-122"/>
                <a:cs typeface="Geist Bold" pitchFamily="34" charset="-120"/>
              </a:rPr>
              <a:t>Demographics</a:t>
            </a:r>
            <a:endParaRPr lang="en-US" sz="1550" dirty="0"/>
          </a:p>
        </p:txBody>
      </p:sp>
      <p:sp>
        <p:nvSpPr>
          <p:cNvPr id="7" name="Text 4"/>
          <p:cNvSpPr/>
          <p:nvPr/>
        </p:nvSpPr>
        <p:spPr>
          <a:xfrm>
            <a:off x="914278" y="3016151"/>
            <a:ext cx="5937994" cy="40024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Gender, Senior Citizen status, Partner, Dependents — baseline customer profile attributes.</a:t>
            </a:r>
            <a:endParaRPr lang="en-US" sz="12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743226"/>
            <a:ext cx="6367402" cy="1159768"/>
          </a:xfrm>
          <a:prstGeom prst="rect">
            <a:avLst/>
          </a:prstGeom>
        </p:spPr>
      </p:pic>
      <p:sp>
        <p:nvSpPr>
          <p:cNvPr id="9" name="Text 5"/>
          <p:cNvSpPr/>
          <p:nvPr/>
        </p:nvSpPr>
        <p:spPr>
          <a:xfrm>
            <a:off x="914278" y="3919835"/>
            <a:ext cx="5937994" cy="256084"/>
          </a:xfrm>
          <a:prstGeom prst="rect">
            <a:avLst/>
          </a:prstGeom>
          <a:noFill/>
          <a:ln/>
        </p:spPr>
        <p:txBody>
          <a:bodyPr wrap="none" lIns="0" tIns="0" rIns="0" bIns="0" rtlCol="0" anchor="t"/>
          <a:lstStyle/>
          <a:p>
            <a:pPr algn="l" indent="0" marL="0">
              <a:lnSpc>
                <a:spcPct val="108000"/>
              </a:lnSpc>
              <a:buNone/>
            </a:pPr>
            <a:r>
              <a:rPr lang="en-US" sz="1550" b="1" spc="-31" kern="0" dirty="0">
                <a:solidFill>
                  <a:srgbClr val="EBEDF0"/>
                </a:solidFill>
                <a:latin typeface="Geist Bold" pitchFamily="34" charset="0"/>
                <a:ea typeface="Geist Bold" pitchFamily="34" charset="-122"/>
                <a:cs typeface="Geist Bold" pitchFamily="34" charset="-120"/>
              </a:rPr>
              <a:t>Services Subscribed</a:t>
            </a:r>
            <a:endParaRPr lang="en-US" sz="1550" dirty="0"/>
          </a:p>
        </p:txBody>
      </p:sp>
      <p:sp>
        <p:nvSpPr>
          <p:cNvPr id="10" name="Text 6"/>
          <p:cNvSpPr/>
          <p:nvPr/>
        </p:nvSpPr>
        <p:spPr>
          <a:xfrm>
            <a:off x="914278" y="4326136"/>
            <a:ext cx="5937994" cy="40024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Phone Service, Internet Service type, Online Security, Backup, Device Protection, Tech Support, Streaming TV &amp; Movies — breadth of engagement.</a:t>
            </a:r>
            <a:endParaRPr lang="en-US" sz="12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5053211"/>
            <a:ext cx="6367402" cy="1159768"/>
          </a:xfrm>
          <a:prstGeom prst="rect">
            <a:avLst/>
          </a:prstGeom>
        </p:spPr>
      </p:pic>
      <p:sp>
        <p:nvSpPr>
          <p:cNvPr id="12" name="Text 7"/>
          <p:cNvSpPr/>
          <p:nvPr/>
        </p:nvSpPr>
        <p:spPr>
          <a:xfrm>
            <a:off x="914278" y="5229820"/>
            <a:ext cx="5937994" cy="256084"/>
          </a:xfrm>
          <a:prstGeom prst="rect">
            <a:avLst/>
          </a:prstGeom>
          <a:noFill/>
          <a:ln/>
        </p:spPr>
        <p:txBody>
          <a:bodyPr wrap="none" lIns="0" tIns="0" rIns="0" bIns="0" rtlCol="0" anchor="t"/>
          <a:lstStyle/>
          <a:p>
            <a:pPr algn="l" indent="0" marL="0">
              <a:lnSpc>
                <a:spcPct val="108000"/>
              </a:lnSpc>
              <a:buNone/>
            </a:pPr>
            <a:r>
              <a:rPr lang="en-US" sz="1550" b="1" spc="-31" kern="0" dirty="0">
                <a:solidFill>
                  <a:srgbClr val="EBEDF0"/>
                </a:solidFill>
                <a:latin typeface="Geist Bold" pitchFamily="34" charset="0"/>
                <a:ea typeface="Geist Bold" pitchFamily="34" charset="-122"/>
                <a:cs typeface="Geist Bold" pitchFamily="34" charset="-120"/>
              </a:rPr>
              <a:t>Account Information</a:t>
            </a:r>
            <a:endParaRPr lang="en-US" sz="1550" dirty="0"/>
          </a:p>
        </p:txBody>
      </p:sp>
      <p:sp>
        <p:nvSpPr>
          <p:cNvPr id="13" name="Text 8"/>
          <p:cNvSpPr/>
          <p:nvPr/>
        </p:nvSpPr>
        <p:spPr>
          <a:xfrm>
            <a:off x="914278" y="5636121"/>
            <a:ext cx="5937994" cy="40024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Tenure, Contract type, Payment Method, Monthly Charges, Total Charges — financial and commitment signals.</a:t>
            </a:r>
            <a:endParaRPr lang="en-US" sz="1200" dirty="0"/>
          </a:p>
        </p:txBody>
      </p:sp>
      <p:sp>
        <p:nvSpPr>
          <p:cNvPr id="14" name="Shape 9"/>
          <p:cNvSpPr/>
          <p:nvPr/>
        </p:nvSpPr>
        <p:spPr>
          <a:xfrm>
            <a:off x="7306286" y="1857970"/>
            <a:ext cx="4343688" cy="4523978"/>
          </a:xfrm>
          <a:prstGeom prst="roundRect">
            <a:avLst>
              <a:gd name="adj" fmla="val 2613"/>
            </a:avLst>
          </a:prstGeom>
          <a:solidFill>
            <a:srgbClr val="1E3A8A">
              <a:alpha val="95000"/>
            </a:srgbClr>
          </a:solidFill>
          <a:ln/>
        </p:spPr>
      </p:sp>
      <p:sp>
        <p:nvSpPr>
          <p:cNvPr id="15" name="Text 10"/>
          <p:cNvSpPr/>
          <p:nvPr/>
        </p:nvSpPr>
        <p:spPr>
          <a:xfrm>
            <a:off x="7463841" y="2008188"/>
            <a:ext cx="4028577" cy="256084"/>
          </a:xfrm>
          <a:prstGeom prst="rect">
            <a:avLst/>
          </a:prstGeom>
          <a:noFill/>
          <a:ln/>
        </p:spPr>
        <p:txBody>
          <a:bodyPr wrap="none" lIns="0" tIns="0" rIns="0" bIns="0" rtlCol="0" anchor="t"/>
          <a:lstStyle/>
          <a:p>
            <a:pPr algn="l" indent="0" marL="0">
              <a:lnSpc>
                <a:spcPct val="108000"/>
              </a:lnSpc>
              <a:buNone/>
            </a:pPr>
            <a:r>
              <a:rPr lang="en-US" sz="1550" b="1" spc="-31" kern="0" dirty="0">
                <a:solidFill>
                  <a:srgbClr val="F2F5FA"/>
                </a:solidFill>
                <a:latin typeface="Geist Bold" pitchFamily="34" charset="0"/>
                <a:ea typeface="Geist Bold" pitchFamily="34" charset="-122"/>
                <a:cs typeface="Geist Bold" pitchFamily="34" charset="-120"/>
              </a:rPr>
              <a:t>Target Variable</a:t>
            </a:r>
            <a:endParaRPr lang="en-US" sz="1550" dirty="0"/>
          </a:p>
        </p:txBody>
      </p:sp>
      <p:sp>
        <p:nvSpPr>
          <p:cNvPr id="16" name="Text 11"/>
          <p:cNvSpPr/>
          <p:nvPr/>
        </p:nvSpPr>
        <p:spPr>
          <a:xfrm>
            <a:off x="7463841" y="2414488"/>
            <a:ext cx="4028577" cy="735509"/>
          </a:xfrm>
          <a:prstGeom prst="rect">
            <a:avLst/>
          </a:prstGeom>
          <a:noFill/>
          <a:ln/>
        </p:spPr>
        <p:txBody>
          <a:bodyPr wrap="square" lIns="0" tIns="0" rIns="0" bIns="0" rtlCol="0" anchor="t">
            <a:normAutofit/>
          </a:bodyPr>
          <a:lstStyle/>
          <a:p>
            <a:pPr algn="l" indent="0" marL="0">
              <a:lnSpc>
                <a:spcPct val="106000"/>
              </a:lnSpc>
              <a:spcAft>
                <a:spcPts val="1050"/>
              </a:spcAft>
              <a:buNone/>
            </a:pPr>
            <a:r>
              <a:rPr lang="en-US" sz="1200" b="1" dirty="0">
                <a:solidFill>
                  <a:srgbClr val="EBEDF0"/>
                </a:solidFill>
                <a:latin typeface="Geist Bold" pitchFamily="34" charset="0"/>
                <a:ea typeface="Geist Bold" pitchFamily="34" charset="-122"/>
                <a:cs typeface="Geist Bold" pitchFamily="34" charset="-120"/>
              </a:rPr>
              <a:t>Churn</a:t>
            </a:r>
            <a:pPr algn="l" indent="0" marL="0">
              <a:lnSpc>
                <a:spcPct val="106000"/>
              </a:lnSpc>
              <a:spcAft>
                <a:spcPts val="1050"/>
              </a:spcAft>
              <a:buNone/>
            </a:pPr>
            <a:r>
              <a:rPr lang="en-US" sz="1200" dirty="0">
                <a:solidFill>
                  <a:srgbClr val="EBEDF0"/>
                </a:solidFill>
                <a:latin typeface="Geist" pitchFamily="34" charset="0"/>
                <a:ea typeface="Geist" pitchFamily="34" charset="-122"/>
                <a:cs typeface="Geist" pitchFamily="34" charset="-120"/>
              </a:rPr>
              <a:t> — binary indicator of whether a customer cancelled their service.</a:t>
            </a:r>
            <a:endParaRPr lang="en-US" sz="1200" dirty="0"/>
          </a:p>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Values: </a:t>
            </a:r>
            <a:pPr algn="l" indent="0" marL="0">
              <a:lnSpc>
                <a:spcPct val="106000"/>
              </a:lnSpc>
              <a:buNone/>
            </a:pPr>
            <a:r>
              <a:rPr lang="en-US" sz="1200" b="1" dirty="0">
                <a:solidFill>
                  <a:srgbClr val="EBEDF0"/>
                </a:solidFill>
                <a:latin typeface="Geist Bold" pitchFamily="34" charset="0"/>
                <a:ea typeface="Geist Bold" pitchFamily="34" charset="-122"/>
                <a:cs typeface="Geist Bold" pitchFamily="34" charset="-120"/>
              </a:rPr>
              <a:t>Yes / No</a:t>
            </a:r>
            <a:endParaRPr lang="en-US" sz="1200" dirty="0"/>
          </a:p>
        </p:txBody>
      </p:sp>
      <p:sp>
        <p:nvSpPr>
          <p:cNvPr id="17" name="Shape 12"/>
          <p:cNvSpPr/>
          <p:nvPr/>
        </p:nvSpPr>
        <p:spPr>
          <a:xfrm>
            <a:off x="7463841" y="3358356"/>
            <a:ext cx="4028577" cy="19050"/>
          </a:xfrm>
          <a:prstGeom prst="roundRect">
            <a:avLst>
              <a:gd name="adj" fmla="val 49999"/>
            </a:avLst>
          </a:prstGeom>
          <a:solidFill>
            <a:srgbClr val="EBEDF0">
              <a:alpha val="50000"/>
            </a:srgbClr>
          </a:solidFill>
          <a:ln/>
        </p:spPr>
      </p:sp>
      <p:sp>
        <p:nvSpPr>
          <p:cNvPr id="18" name="Text 13"/>
          <p:cNvSpPr/>
          <p:nvPr/>
        </p:nvSpPr>
        <p:spPr>
          <a:xfrm>
            <a:off x="7463841" y="3585766"/>
            <a:ext cx="4028577" cy="256084"/>
          </a:xfrm>
          <a:prstGeom prst="rect">
            <a:avLst/>
          </a:prstGeom>
          <a:noFill/>
          <a:ln/>
        </p:spPr>
        <p:txBody>
          <a:bodyPr wrap="none" lIns="0" tIns="0" rIns="0" bIns="0" rtlCol="0" anchor="t"/>
          <a:lstStyle/>
          <a:p>
            <a:pPr algn="l" indent="0" marL="0">
              <a:lnSpc>
                <a:spcPct val="108000"/>
              </a:lnSpc>
              <a:buNone/>
            </a:pPr>
            <a:r>
              <a:rPr lang="en-US" sz="1550" b="1" spc="-31" kern="0" dirty="0">
                <a:solidFill>
                  <a:srgbClr val="F2F5FA"/>
                </a:solidFill>
                <a:latin typeface="Geist Bold" pitchFamily="34" charset="0"/>
                <a:ea typeface="Geist Bold" pitchFamily="34" charset="-122"/>
                <a:cs typeface="Geist Bold" pitchFamily="34" charset="-120"/>
              </a:rPr>
              <a:t>Dataset Role</a:t>
            </a:r>
            <a:endParaRPr lang="en-US" sz="1550" dirty="0"/>
          </a:p>
        </p:txBody>
      </p:sp>
      <p:sp>
        <p:nvSpPr>
          <p:cNvPr id="19" name="Text 14"/>
          <p:cNvSpPr/>
          <p:nvPr/>
        </p:nvSpPr>
        <p:spPr>
          <a:xfrm>
            <a:off x="7463841" y="3992066"/>
            <a:ext cx="4028577" cy="600373"/>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EBEDF0"/>
                </a:solidFill>
                <a:latin typeface="Geist" pitchFamily="34" charset="0"/>
                <a:ea typeface="Geist" pitchFamily="34" charset="-122"/>
                <a:cs typeface="Geist" pitchFamily="34" charset="-120"/>
              </a:rPr>
              <a:t>Each row represents one customer at a point in time. The model learns from historical patterns to score current customers by churn likelihood.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382117"/>
            <a:ext cx="10868745" cy="537468"/>
          </a:xfrm>
          <a:prstGeom prst="rect">
            <a:avLst/>
          </a:prstGeom>
          <a:noFill/>
          <a:ln/>
        </p:spPr>
        <p:txBody>
          <a:bodyPr wrap="none" lIns="0" tIns="0" rIns="0" bIns="0" rtlCol="0" anchor="t"/>
          <a:lstStyle/>
          <a:p>
            <a:pPr algn="l" indent="0" marL="0">
              <a:lnSpc>
                <a:spcPct val="108000"/>
              </a:lnSpc>
              <a:buNone/>
            </a:pPr>
            <a:r>
              <a:rPr lang="en-US" sz="3250" b="1" spc="-65" kern="0" dirty="0">
                <a:solidFill>
                  <a:srgbClr val="F2F5FA"/>
                </a:solidFill>
                <a:latin typeface="Geist Bold" pitchFamily="34" charset="0"/>
                <a:ea typeface="Geist Bold" pitchFamily="34" charset="-122"/>
                <a:cs typeface="Geist Bold" pitchFamily="34" charset="-120"/>
              </a:rPr>
              <a:t>Initial Data Audit</a:t>
            </a:r>
            <a:endParaRPr lang="en-US" sz="3250" dirty="0"/>
          </a:p>
        </p:txBody>
      </p:sp>
      <p:sp>
        <p:nvSpPr>
          <p:cNvPr id="3" name="Text 1"/>
          <p:cNvSpPr/>
          <p:nvPr/>
        </p:nvSpPr>
        <p:spPr>
          <a:xfrm>
            <a:off x="661475" y="2250281"/>
            <a:ext cx="11478330" cy="215007"/>
          </a:xfrm>
          <a:prstGeom prst="rect">
            <a:avLst/>
          </a:prstGeom>
          <a:noFill/>
          <a:ln/>
        </p:spPr>
        <p:txBody>
          <a:bodyPr wrap="none" lIns="0" tIns="0" rIns="0" bIns="0" rtlCol="0" anchor="t"/>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A systematic quality check performed before any modeling — identifying data integrity issues, leakage risks, and preprocessing requirements.</a:t>
            </a:r>
            <a:endParaRPr lang="en-US" sz="1300" dirty="0"/>
          </a:p>
        </p:txBody>
      </p:sp>
      <p:sp>
        <p:nvSpPr>
          <p:cNvPr id="4" name="Shape 2"/>
          <p:cNvSpPr/>
          <p:nvPr/>
        </p:nvSpPr>
        <p:spPr>
          <a:xfrm>
            <a:off x="661475" y="2651323"/>
            <a:ext cx="2593216" cy="1811734"/>
          </a:xfrm>
          <a:prstGeom prst="roundRect">
            <a:avLst>
              <a:gd name="adj" fmla="val 3834"/>
            </a:avLst>
          </a:prstGeom>
          <a:solidFill>
            <a:srgbClr val="101620"/>
          </a:solidFill>
          <a:ln w="19050">
            <a:solidFill>
              <a:srgbClr val="002A80"/>
            </a:solidFill>
            <a:prstDash val="solid"/>
          </a:ln>
        </p:spPr>
      </p:sp>
      <p:sp>
        <p:nvSpPr>
          <p:cNvPr id="5" name="Text 3"/>
          <p:cNvSpPr/>
          <p:nvPr/>
        </p:nvSpPr>
        <p:spPr>
          <a:xfrm>
            <a:off x="845819" y="2835672"/>
            <a:ext cx="2224528"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TotalCharges Cleaning</a:t>
            </a:r>
            <a:endParaRPr lang="en-US" sz="1600" dirty="0"/>
          </a:p>
        </p:txBody>
      </p:sp>
      <p:sp>
        <p:nvSpPr>
          <p:cNvPr id="6" name="Text 4"/>
          <p:cNvSpPr/>
          <p:nvPr/>
        </p:nvSpPr>
        <p:spPr>
          <a:xfrm>
            <a:off x="845819" y="3203674"/>
            <a:ext cx="2224528" cy="1075035"/>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Column contains non-numeric values and requires explicit type conversion before use. Not ready for modeling in raw form.</a:t>
            </a:r>
            <a:endParaRPr lang="en-US" sz="1300" dirty="0"/>
          </a:p>
        </p:txBody>
      </p:sp>
      <p:sp>
        <p:nvSpPr>
          <p:cNvPr id="7" name="Shape 5"/>
          <p:cNvSpPr/>
          <p:nvPr/>
        </p:nvSpPr>
        <p:spPr>
          <a:xfrm>
            <a:off x="3419985" y="2651323"/>
            <a:ext cx="2593216" cy="1811734"/>
          </a:xfrm>
          <a:prstGeom prst="roundRect">
            <a:avLst>
              <a:gd name="adj" fmla="val 3834"/>
            </a:avLst>
          </a:prstGeom>
          <a:solidFill>
            <a:srgbClr val="101620"/>
          </a:solidFill>
          <a:ln w="19050">
            <a:solidFill>
              <a:srgbClr val="002A80"/>
            </a:solidFill>
            <a:prstDash val="solid"/>
          </a:ln>
        </p:spPr>
      </p:sp>
      <p:sp>
        <p:nvSpPr>
          <p:cNvPr id="8" name="Text 6"/>
          <p:cNvSpPr/>
          <p:nvPr/>
        </p:nvSpPr>
        <p:spPr>
          <a:xfrm>
            <a:off x="3604329" y="2835672"/>
            <a:ext cx="2224528"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customerID Exclusion</a:t>
            </a:r>
            <a:endParaRPr lang="en-US" sz="1600" dirty="0"/>
          </a:p>
        </p:txBody>
      </p:sp>
      <p:sp>
        <p:nvSpPr>
          <p:cNvPr id="9" name="Text 7"/>
          <p:cNvSpPr/>
          <p:nvPr/>
        </p:nvSpPr>
        <p:spPr>
          <a:xfrm>
            <a:off x="3604329" y="3203674"/>
            <a:ext cx="2224528" cy="860028"/>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Unique identifier with no predictive signal. Excluded from all feature sets to avoid noise.</a:t>
            </a:r>
            <a:endParaRPr lang="en-US" sz="1300" dirty="0"/>
          </a:p>
        </p:txBody>
      </p:sp>
      <p:sp>
        <p:nvSpPr>
          <p:cNvPr id="10" name="Shape 8"/>
          <p:cNvSpPr/>
          <p:nvPr/>
        </p:nvSpPr>
        <p:spPr>
          <a:xfrm>
            <a:off x="6178495" y="2651323"/>
            <a:ext cx="2593216" cy="1811734"/>
          </a:xfrm>
          <a:prstGeom prst="roundRect">
            <a:avLst>
              <a:gd name="adj" fmla="val 3834"/>
            </a:avLst>
          </a:prstGeom>
          <a:solidFill>
            <a:srgbClr val="101620"/>
          </a:solidFill>
          <a:ln w="19050">
            <a:solidFill>
              <a:srgbClr val="002A80"/>
            </a:solidFill>
            <a:prstDash val="solid"/>
          </a:ln>
        </p:spPr>
      </p:sp>
      <p:sp>
        <p:nvSpPr>
          <p:cNvPr id="11" name="Text 9"/>
          <p:cNvSpPr/>
          <p:nvPr/>
        </p:nvSpPr>
        <p:spPr>
          <a:xfrm>
            <a:off x="6362838" y="2835672"/>
            <a:ext cx="2224528"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Target Distribution</a:t>
            </a:r>
            <a:endParaRPr lang="en-US" sz="1600" dirty="0"/>
          </a:p>
        </p:txBody>
      </p:sp>
      <p:sp>
        <p:nvSpPr>
          <p:cNvPr id="12" name="Text 10"/>
          <p:cNvSpPr/>
          <p:nvPr/>
        </p:nvSpPr>
        <p:spPr>
          <a:xfrm>
            <a:off x="6362838" y="3203674"/>
            <a:ext cx="2224528" cy="1075035"/>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Churn class balance assessed to inform evaluation strategy and sampling decisions during training.</a:t>
            </a:r>
            <a:endParaRPr lang="en-US" sz="1300" dirty="0"/>
          </a:p>
        </p:txBody>
      </p:sp>
      <p:sp>
        <p:nvSpPr>
          <p:cNvPr id="13" name="Shape 11"/>
          <p:cNvSpPr/>
          <p:nvPr/>
        </p:nvSpPr>
        <p:spPr>
          <a:xfrm>
            <a:off x="8937005" y="2651323"/>
            <a:ext cx="2593216" cy="1811734"/>
          </a:xfrm>
          <a:prstGeom prst="roundRect">
            <a:avLst>
              <a:gd name="adj" fmla="val 3834"/>
            </a:avLst>
          </a:prstGeom>
          <a:solidFill>
            <a:srgbClr val="101620"/>
          </a:solidFill>
          <a:ln w="19050">
            <a:solidFill>
              <a:srgbClr val="002A80"/>
            </a:solidFill>
            <a:prstDash val="solid"/>
          </a:ln>
        </p:spPr>
      </p:sp>
      <p:sp>
        <p:nvSpPr>
          <p:cNvPr id="14" name="Text 12"/>
          <p:cNvSpPr/>
          <p:nvPr/>
        </p:nvSpPr>
        <p:spPr>
          <a:xfrm>
            <a:off x="9121348" y="2835672"/>
            <a:ext cx="2224528"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Leakage Audit</a:t>
            </a:r>
            <a:endParaRPr lang="en-US" sz="1600" dirty="0"/>
          </a:p>
        </p:txBody>
      </p:sp>
      <p:sp>
        <p:nvSpPr>
          <p:cNvPr id="15" name="Text 13"/>
          <p:cNvSpPr/>
          <p:nvPr/>
        </p:nvSpPr>
        <p:spPr>
          <a:xfrm>
            <a:off x="9121348" y="3203674"/>
            <a:ext cx="2224528" cy="1075035"/>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No major prediction-time leakage risks detected. All features reflect information available before a churn event occurs.</a:t>
            </a:r>
            <a:endParaRPr lang="en-US" sz="1300" dirty="0"/>
          </a:p>
        </p:txBody>
      </p:sp>
      <p:sp>
        <p:nvSpPr>
          <p:cNvPr id="16" name="Shape 14"/>
          <p:cNvSpPr/>
          <p:nvPr/>
        </p:nvSpPr>
        <p:spPr>
          <a:xfrm>
            <a:off x="661475" y="4649093"/>
            <a:ext cx="10868745" cy="826691"/>
          </a:xfrm>
          <a:prstGeom prst="roundRect">
            <a:avLst>
              <a:gd name="adj" fmla="val 8403"/>
            </a:avLst>
          </a:prstGeom>
          <a:solidFill>
            <a:srgbClr val="4B3F02"/>
          </a:solidFill>
          <a:ln/>
        </p:spPr>
      </p:sp>
      <p:pic>
        <p:nvPicPr>
          <p:cNvPr id="17" name="Image 0" descr="preencoded.png">    </p:cNvPr>
          <p:cNvPicPr>
            <a:picLocks noChangeAspect="1"/>
          </p:cNvPicPr>
          <p:nvPr/>
        </p:nvPicPr>
        <p:blipFill>
          <a:blip r:embed="rId1"/>
          <a:stretch>
            <a:fillRect/>
          </a:stretch>
        </p:blipFill>
        <p:spPr>
          <a:xfrm>
            <a:off x="826769" y="4863405"/>
            <a:ext cx="206667" cy="165298"/>
          </a:xfrm>
          <a:prstGeom prst="rect">
            <a:avLst/>
          </a:prstGeom>
        </p:spPr>
      </p:pic>
      <p:sp>
        <p:nvSpPr>
          <p:cNvPr id="18" name="Text 15"/>
          <p:cNvSpPr/>
          <p:nvPr/>
        </p:nvSpPr>
        <p:spPr>
          <a:xfrm>
            <a:off x="1198731" y="4855666"/>
            <a:ext cx="10166195" cy="430014"/>
          </a:xfrm>
          <a:prstGeom prst="rect">
            <a:avLst/>
          </a:prstGeom>
          <a:noFill/>
          <a:ln/>
        </p:spPr>
        <p:txBody>
          <a:bodyPr wrap="square" lIns="0" tIns="0" rIns="0" bIns="0" rtlCol="0" anchor="t">
            <a:normAutofit/>
          </a:bodyPr>
          <a:lstStyle/>
          <a:p>
            <a:pPr algn="l" indent="0" marL="0">
              <a:lnSpc>
                <a:spcPct val="108000"/>
              </a:lnSpc>
              <a:buNone/>
            </a:pPr>
            <a:r>
              <a:rPr lang="en-US" sz="1300" b="1" dirty="0">
                <a:solidFill>
                  <a:srgbClr val="FFFFFF"/>
                </a:solidFill>
                <a:latin typeface="Geist Bold" pitchFamily="34" charset="0"/>
                <a:ea typeface="Geist Bold" pitchFamily="34" charset="-122"/>
                <a:cs typeface="Geist Bold" pitchFamily="34" charset="-120"/>
              </a:rPr>
              <a:t>Procedural Leakage Risk:</a:t>
            </a:r>
            <a:pPr algn="l" indent="0" marL="0">
              <a:lnSpc>
                <a:spcPct val="108000"/>
              </a:lnSpc>
              <a:buNone/>
            </a:pPr>
            <a:r>
              <a:rPr lang="en-US" sz="1300" dirty="0">
                <a:solidFill>
                  <a:srgbClr val="FFFFFF"/>
                </a:solidFill>
                <a:latin typeface="Geist" pitchFamily="34" charset="0"/>
                <a:ea typeface="Geist" pitchFamily="34" charset="-122"/>
                <a:cs typeface="Geist" pitchFamily="34" charset="-120"/>
              </a:rPr>
              <a:t> Preprocessing (scaling, encoding, imputation) must be fitted exclusively on training data. Solution: All transformations are encapsulated inside an ML pipeline to enforce this boundary at every experiment.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77441"/>
            <a:ext cx="10868745" cy="411559"/>
          </a:xfrm>
          <a:prstGeom prst="rect">
            <a:avLst/>
          </a:prstGeom>
          <a:noFill/>
          <a:ln/>
        </p:spPr>
        <p:txBody>
          <a:bodyPr wrap="none" lIns="0" tIns="0" rIns="0" bIns="0" rtlCol="0" anchor="t"/>
          <a:lstStyle/>
          <a:p>
            <a:pPr algn="l" indent="0" marL="0">
              <a:lnSpc>
                <a:spcPct val="108000"/>
              </a:lnSpc>
              <a:buNone/>
            </a:pPr>
            <a:r>
              <a:rPr lang="en-US" sz="2450" b="1" spc="-50" kern="0" dirty="0">
                <a:solidFill>
                  <a:srgbClr val="F2F5FA"/>
                </a:solidFill>
                <a:latin typeface="Geist Bold" pitchFamily="34" charset="0"/>
                <a:ea typeface="Geist Bold" pitchFamily="34" charset="-122"/>
                <a:cs typeface="Geist Bold" pitchFamily="34" charset="-120"/>
              </a:rPr>
              <a:t>EDA: Key Churn Signals</a:t>
            </a:r>
            <a:endParaRPr lang="en-US" sz="2450" dirty="0"/>
          </a:p>
        </p:txBody>
      </p:sp>
      <p:sp>
        <p:nvSpPr>
          <p:cNvPr id="3" name="Text 1"/>
          <p:cNvSpPr/>
          <p:nvPr/>
        </p:nvSpPr>
        <p:spPr>
          <a:xfrm>
            <a:off x="661475" y="1082873"/>
            <a:ext cx="11478330" cy="145256"/>
          </a:xfrm>
          <a:prstGeom prst="rect">
            <a:avLst/>
          </a:prstGeom>
          <a:noFill/>
          <a:ln/>
        </p:spPr>
        <p:txBody>
          <a:bodyPr wrap="none" lIns="0" tIns="0" rIns="0" bIns="0" rtlCol="0" anchor="t"/>
          <a:lstStyle/>
          <a:p>
            <a:pPr algn="l" indent="0" marL="0">
              <a:lnSpc>
                <a:spcPct val="96000"/>
              </a:lnSpc>
              <a:buNone/>
            </a:pPr>
            <a:r>
              <a:rPr lang="en-US" sz="950" dirty="0">
                <a:solidFill>
                  <a:srgbClr val="EBEDF0"/>
                </a:solidFill>
                <a:latin typeface="Geist" pitchFamily="34" charset="0"/>
                <a:ea typeface="Geist" pitchFamily="34" charset="-122"/>
                <a:cs typeface="Geist" pitchFamily="34" charset="-120"/>
              </a:rPr>
              <a:t>Exploratory analysis surfaces two variables with especially strong differentiation in observed churn rates — providing the clearest early evidence of predictive signal in this dataset.</a:t>
            </a:r>
            <a:endParaRPr lang="en-US" sz="950" dirty="0"/>
          </a:p>
        </p:txBody>
      </p:sp>
      <p:pic>
        <p:nvPicPr>
          <p:cNvPr id="4" name="Image 0" descr="preencoded.png">    </p:cNvPr>
          <p:cNvPicPr>
            <a:picLocks noChangeAspect="1"/>
          </p:cNvPicPr>
          <p:nvPr/>
        </p:nvPicPr>
        <p:blipFill>
          <a:blip r:embed="rId1"/>
          <a:stretch>
            <a:fillRect/>
          </a:stretch>
        </p:blipFill>
        <p:spPr>
          <a:xfrm>
            <a:off x="661475" y="1446212"/>
            <a:ext cx="5279893" cy="3800574"/>
          </a:xfrm>
          <a:prstGeom prst="rect">
            <a:avLst/>
          </a:prstGeom>
        </p:spPr>
      </p:pic>
      <p:sp>
        <p:nvSpPr>
          <p:cNvPr id="5" name="Text 2"/>
          <p:cNvSpPr/>
          <p:nvPr/>
        </p:nvSpPr>
        <p:spPr>
          <a:xfrm>
            <a:off x="661475" y="5355828"/>
            <a:ext cx="5279893" cy="435769"/>
          </a:xfrm>
          <a:prstGeom prst="rect">
            <a:avLst/>
          </a:prstGeom>
          <a:noFill/>
          <a:ln/>
        </p:spPr>
        <p:txBody>
          <a:bodyPr wrap="square" lIns="0" tIns="0" rIns="0" bIns="0" rtlCol="0" anchor="t">
            <a:normAutofit/>
          </a:bodyPr>
          <a:lstStyle/>
          <a:p>
            <a:pPr algn="l" indent="0" marL="0">
              <a:lnSpc>
                <a:spcPct val="96000"/>
              </a:lnSpc>
              <a:buNone/>
            </a:pPr>
            <a:r>
              <a:rPr lang="en-US" sz="950" b="1" dirty="0">
                <a:solidFill>
                  <a:srgbClr val="EBEDF0"/>
                </a:solidFill>
                <a:latin typeface="Geist Bold" pitchFamily="34" charset="0"/>
                <a:ea typeface="Geist Bold" pitchFamily="34" charset="-122"/>
                <a:cs typeface="Geist Bold" pitchFamily="34" charset="-120"/>
              </a:rPr>
              <a:t>Fiber Optic customers churn at 41.9%</a:t>
            </a:r>
            <a:pPr algn="l" indent="0" marL="0">
              <a:lnSpc>
                <a:spcPct val="96000"/>
              </a:lnSpc>
              <a:buNone/>
            </a:pPr>
            <a:r>
              <a:rPr lang="en-US" sz="950" dirty="0">
                <a:solidFill>
                  <a:srgbClr val="EBEDF0"/>
                </a:solidFill>
                <a:latin typeface="Geist" pitchFamily="34" charset="0"/>
                <a:ea typeface="Geist" pitchFamily="34" charset="-122"/>
                <a:cs typeface="Geist" pitchFamily="34" charset="-120"/>
              </a:rPr>
              <a:t> — more than twice the rate of DSL customers at 19.0%. This gap likely reflects higher expectations, greater price sensitivity, or competitive pressure in the fiber segment.</a:t>
            </a:r>
            <a:endParaRPr lang="en-US" sz="950" dirty="0"/>
          </a:p>
        </p:txBody>
      </p:sp>
      <p:pic>
        <p:nvPicPr>
          <p:cNvPr id="6" name="Image 1" descr="preencoded.png">    </p:cNvPr>
          <p:cNvPicPr>
            <a:picLocks noChangeAspect="1"/>
          </p:cNvPicPr>
          <p:nvPr/>
        </p:nvPicPr>
        <p:blipFill>
          <a:blip r:embed="rId2"/>
          <a:stretch>
            <a:fillRect/>
          </a:stretch>
        </p:blipFill>
        <p:spPr>
          <a:xfrm>
            <a:off x="6256677" y="1446212"/>
            <a:ext cx="5279893" cy="3800574"/>
          </a:xfrm>
          <a:prstGeom prst="rect">
            <a:avLst/>
          </a:prstGeom>
        </p:spPr>
      </p:pic>
      <p:sp>
        <p:nvSpPr>
          <p:cNvPr id="7" name="Text 3"/>
          <p:cNvSpPr/>
          <p:nvPr/>
        </p:nvSpPr>
        <p:spPr>
          <a:xfrm>
            <a:off x="6256677" y="5355828"/>
            <a:ext cx="5279893" cy="435769"/>
          </a:xfrm>
          <a:prstGeom prst="rect">
            <a:avLst/>
          </a:prstGeom>
          <a:noFill/>
          <a:ln/>
        </p:spPr>
        <p:txBody>
          <a:bodyPr wrap="square" lIns="0" tIns="0" rIns="0" bIns="0" rtlCol="0" anchor="t">
            <a:normAutofit/>
          </a:bodyPr>
          <a:lstStyle/>
          <a:p>
            <a:pPr algn="l" indent="0" marL="0">
              <a:lnSpc>
                <a:spcPct val="96000"/>
              </a:lnSpc>
              <a:buNone/>
            </a:pPr>
            <a:r>
              <a:rPr lang="en-US" sz="950" b="1" dirty="0">
                <a:solidFill>
                  <a:srgbClr val="EBEDF0"/>
                </a:solidFill>
                <a:latin typeface="Geist Bold" pitchFamily="34" charset="0"/>
                <a:ea typeface="Geist Bold" pitchFamily="34" charset="-122"/>
                <a:cs typeface="Geist Bold" pitchFamily="34" charset="-120"/>
              </a:rPr>
              <a:t>Month-to-Month customers churn at 42.7%</a:t>
            </a:r>
            <a:pPr algn="l" indent="0" marL="0">
              <a:lnSpc>
                <a:spcPct val="96000"/>
              </a:lnSpc>
              <a:buNone/>
            </a:pPr>
            <a:r>
              <a:rPr lang="en-US" sz="950" dirty="0">
                <a:solidFill>
                  <a:srgbClr val="EBEDF0"/>
                </a:solidFill>
                <a:latin typeface="Geist" pitchFamily="34" charset="0"/>
                <a:ea typeface="Geist" pitchFamily="34" charset="-122"/>
                <a:cs typeface="Geist" pitchFamily="34" charset="-120"/>
              </a:rPr>
              <a:t> compared to just 2.8% for Two-Year contract holders. Contract structure is the single strongest observed differentiator — reflecting both customer commitment and switching cost.</a:t>
            </a:r>
            <a:endParaRPr lang="en-US" sz="950" dirty="0"/>
          </a:p>
        </p:txBody>
      </p:sp>
      <p:sp>
        <p:nvSpPr>
          <p:cNvPr id="8" name="Shape 4"/>
          <p:cNvSpPr/>
          <p:nvPr/>
        </p:nvSpPr>
        <p:spPr>
          <a:xfrm>
            <a:off x="661475" y="5987852"/>
            <a:ext cx="10868745" cy="392708"/>
          </a:xfrm>
          <a:prstGeom prst="roundRect">
            <a:avLst>
              <a:gd name="adj" fmla="val 13543"/>
            </a:avLst>
          </a:prstGeom>
          <a:solidFill>
            <a:srgbClr val="002A80"/>
          </a:solidFill>
          <a:ln/>
        </p:spPr>
      </p:sp>
      <p:pic>
        <p:nvPicPr>
          <p:cNvPr id="9" name="Image 2" descr="preencoded.png">    </p:cNvPr>
          <p:cNvPicPr>
            <a:picLocks noChangeAspect="1"/>
          </p:cNvPicPr>
          <p:nvPr/>
        </p:nvPicPr>
        <p:blipFill>
          <a:blip r:embed="rId3"/>
          <a:stretch>
            <a:fillRect/>
          </a:stretch>
        </p:blipFill>
        <p:spPr>
          <a:xfrm>
            <a:off x="788075" y="6116439"/>
            <a:ext cx="158250" cy="126603"/>
          </a:xfrm>
          <a:prstGeom prst="rect">
            <a:avLst/>
          </a:prstGeom>
        </p:spPr>
      </p:pic>
      <p:sp>
        <p:nvSpPr>
          <p:cNvPr id="10" name="Text 5"/>
          <p:cNvSpPr/>
          <p:nvPr/>
        </p:nvSpPr>
        <p:spPr>
          <a:xfrm>
            <a:off x="1072925" y="6116439"/>
            <a:ext cx="10940280" cy="145256"/>
          </a:xfrm>
          <a:prstGeom prst="rect">
            <a:avLst/>
          </a:prstGeom>
          <a:noFill/>
          <a:ln/>
        </p:spPr>
        <p:txBody>
          <a:bodyPr wrap="none" lIns="0" tIns="0" rIns="0" bIns="0" rtlCol="0" anchor="t"/>
          <a:lstStyle/>
          <a:p>
            <a:pPr algn="l" indent="0" marL="0">
              <a:lnSpc>
                <a:spcPct val="96000"/>
              </a:lnSpc>
              <a:buNone/>
            </a:pPr>
            <a:r>
              <a:rPr lang="en-US" sz="950" dirty="0">
                <a:solidFill>
                  <a:srgbClr val="FFFFFF"/>
                </a:solidFill>
                <a:latin typeface="Geist" pitchFamily="34" charset="0"/>
                <a:ea typeface="Geist" pitchFamily="34" charset="-122"/>
                <a:cs typeface="Geist" pitchFamily="34" charset="-120"/>
              </a:rPr>
              <a:t>These patterns suggest strong predictive signals. They do not yet quantify feature importance — that will be determined by the model and confirmed with SHAP analysis.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81211"/>
            <a:ext cx="10868745" cy="386259"/>
          </a:xfrm>
          <a:prstGeom prst="rect">
            <a:avLst/>
          </a:prstGeom>
          <a:noFill/>
          <a:ln/>
        </p:spPr>
        <p:txBody>
          <a:bodyPr wrap="none" lIns="0" tIns="0" rIns="0" bIns="0" rtlCol="0" anchor="t"/>
          <a:lstStyle/>
          <a:p>
            <a:pPr algn="l" indent="0" marL="0">
              <a:lnSpc>
                <a:spcPct val="108000"/>
              </a:lnSpc>
              <a:buNone/>
            </a:pPr>
            <a:r>
              <a:rPr lang="en-US" sz="2300" b="1" spc="-47" kern="0" dirty="0">
                <a:solidFill>
                  <a:srgbClr val="F2F5FA"/>
                </a:solidFill>
                <a:latin typeface="Geist Bold" pitchFamily="34" charset="0"/>
                <a:ea typeface="Geist Bold" pitchFamily="34" charset="-122"/>
                <a:cs typeface="Geist Bold" pitchFamily="34" charset="-120"/>
              </a:rPr>
              <a:t>Feature Engineering</a:t>
            </a:r>
            <a:endParaRPr lang="en-US" sz="2300" dirty="0"/>
          </a:p>
        </p:txBody>
      </p:sp>
      <p:sp>
        <p:nvSpPr>
          <p:cNvPr id="3" name="Text 1"/>
          <p:cNvSpPr/>
          <p:nvPr/>
        </p:nvSpPr>
        <p:spPr>
          <a:xfrm>
            <a:off x="661475" y="1038324"/>
            <a:ext cx="11478330" cy="132755"/>
          </a:xfrm>
          <a:prstGeom prst="rect">
            <a:avLst/>
          </a:prstGeom>
          <a:noFill/>
          <a:ln/>
        </p:spPr>
        <p:txBody>
          <a:bodyPr wrap="none" lIns="0" tIns="0" rIns="0" bIns="0" rtlCol="0" anchor="t"/>
          <a:lstStyle/>
          <a:p>
            <a:pPr algn="l" indent="0" marL="0">
              <a:lnSpc>
                <a:spcPct val="93000"/>
              </a:lnSpc>
              <a:buNone/>
            </a:pPr>
            <a:r>
              <a:rPr lang="en-US" sz="900" dirty="0">
                <a:solidFill>
                  <a:srgbClr val="EBEDF0"/>
                </a:solidFill>
                <a:latin typeface="Geist" pitchFamily="34" charset="0"/>
                <a:ea typeface="Geist" pitchFamily="34" charset="-122"/>
                <a:cs typeface="Geist" pitchFamily="34" charset="-120"/>
              </a:rPr>
              <a:t>Raw fields are transformed into engineered features that better represent customer behavior — using only information available at prediction time to avoid leakage.</a:t>
            </a:r>
            <a:endParaRPr lang="en-US" sz="900" dirty="0"/>
          </a:p>
        </p:txBody>
      </p:sp>
      <p:pic>
        <p:nvPicPr>
          <p:cNvPr id="4" name="Image 0" descr="preencoded.png">    </p:cNvPr>
          <p:cNvPicPr>
            <a:picLocks noChangeAspect="1"/>
          </p:cNvPicPr>
          <p:nvPr/>
        </p:nvPicPr>
        <p:blipFill>
          <a:blip r:embed="rId1"/>
          <a:stretch>
            <a:fillRect/>
          </a:stretch>
        </p:blipFill>
        <p:spPr>
          <a:xfrm>
            <a:off x="661475" y="1267123"/>
            <a:ext cx="781328" cy="781348"/>
          </a:xfrm>
          <a:prstGeom prst="rect">
            <a:avLst/>
          </a:prstGeom>
        </p:spPr>
      </p:pic>
      <p:sp>
        <p:nvSpPr>
          <p:cNvPr id="5" name="Text 2"/>
          <p:cNvSpPr/>
          <p:nvPr/>
        </p:nvSpPr>
        <p:spPr>
          <a:xfrm>
            <a:off x="1549560" y="1267123"/>
            <a:ext cx="2663659" cy="193179"/>
          </a:xfrm>
          <a:prstGeom prst="rect">
            <a:avLst/>
          </a:prstGeom>
          <a:noFill/>
          <a:ln/>
        </p:spPr>
        <p:txBody>
          <a:bodyPr wrap="none" lIns="0" tIns="0" rIns="0" bIns="0" rtlCol="0" anchor="t"/>
          <a:lstStyle/>
          <a:p>
            <a:pPr algn="l" indent="0" marL="0">
              <a:lnSpc>
                <a:spcPct val="108000"/>
              </a:lnSpc>
              <a:buNone/>
            </a:pPr>
            <a:r>
              <a:rPr lang="en-US" sz="1150" b="1" spc="-23" kern="0" dirty="0">
                <a:solidFill>
                  <a:srgbClr val="EBEDF0"/>
                </a:solidFill>
                <a:latin typeface="Geist Bold" pitchFamily="34" charset="0"/>
                <a:ea typeface="Geist Bold" pitchFamily="34" charset="-122"/>
                <a:cs typeface="Geist Bold" pitchFamily="34" charset="-120"/>
              </a:rPr>
              <a:t>TotalChargesPerTenure</a:t>
            </a:r>
            <a:endParaRPr lang="en-US" sz="1150" dirty="0"/>
          </a:p>
        </p:txBody>
      </p:sp>
      <p:sp>
        <p:nvSpPr>
          <p:cNvPr id="6" name="Text 3"/>
          <p:cNvSpPr/>
          <p:nvPr/>
        </p:nvSpPr>
        <p:spPr>
          <a:xfrm>
            <a:off x="1549560" y="1511498"/>
            <a:ext cx="2663659" cy="980480"/>
          </a:xfrm>
          <a:prstGeom prst="rect">
            <a:avLst/>
          </a:prstGeom>
          <a:noFill/>
          <a:ln/>
        </p:spPr>
        <p:txBody>
          <a:bodyPr wrap="square" lIns="0" tIns="0" rIns="0" bIns="0" rtlCol="0" anchor="t"/>
          <a:lstStyle/>
          <a:p>
            <a:pPr algn="l" indent="0" marL="0">
              <a:lnSpc>
                <a:spcPct val="93000"/>
              </a:lnSpc>
              <a:spcAft>
                <a:spcPts val="400"/>
              </a:spcAft>
              <a:buNone/>
            </a:pPr>
            <a:r>
              <a:rPr lang="en-US" sz="900" b="1" dirty="0">
                <a:solidFill>
                  <a:srgbClr val="EBEDF0"/>
                </a:solidFill>
                <a:latin typeface="Geist Bold" pitchFamily="34" charset="0"/>
                <a:ea typeface="Geist Bold" pitchFamily="34" charset="-122"/>
                <a:cs typeface="Geist Bold" pitchFamily="34" charset="-120"/>
              </a:rPr>
              <a:t>Formula:</a:t>
            </a:r>
            <a:pPr algn="l" indent="0" marL="0">
              <a:lnSpc>
                <a:spcPct val="93000"/>
              </a:lnSpc>
              <a:spcAft>
                <a:spcPts val="400"/>
              </a:spcAft>
              <a:buNone/>
            </a:pPr>
            <a:r>
              <a:rPr lang="en-US" sz="900" dirty="0">
                <a:solidFill>
                  <a:srgbClr val="EBEDF0"/>
                </a:solidFill>
                <a:latin typeface="Geist" pitchFamily="34" charset="0"/>
                <a:ea typeface="Geist" pitchFamily="34" charset="-122"/>
                <a:cs typeface="Geist" pitchFamily="34" charset="-120"/>
              </a:rPr>
              <a:t> Total Charges ÷ Tenure</a:t>
            </a:r>
            <a:endParaRPr lang="en-US" sz="900" dirty="0"/>
          </a:p>
          <a:p>
            <a:pPr algn="l" indent="0" marL="0">
              <a:lnSpc>
                <a:spcPct val="93000"/>
              </a:lnSpc>
              <a:buNone/>
            </a:pPr>
            <a:r>
              <a:rPr lang="en-US" sz="900" dirty="0">
                <a:solidFill>
                  <a:srgbClr val="EBEDF0"/>
                </a:solidFill>
                <a:latin typeface="Geist" pitchFamily="34" charset="0"/>
                <a:ea typeface="Geist" pitchFamily="34" charset="-122"/>
                <a:cs typeface="Geist" pitchFamily="34" charset="-120"/>
              </a:rPr>
              <a:t>Captures a customer's </a:t>
            </a:r>
            <a:pPr algn="l" indent="0" marL="0">
              <a:lnSpc>
                <a:spcPct val="93000"/>
              </a:lnSpc>
              <a:buNone/>
            </a:pPr>
            <a:r>
              <a:rPr lang="en-US" sz="900" b="1" dirty="0">
                <a:solidFill>
                  <a:srgbClr val="EBEDF0"/>
                </a:solidFill>
                <a:latin typeface="Geist Bold" pitchFamily="34" charset="0"/>
                <a:ea typeface="Geist Bold" pitchFamily="34" charset="-122"/>
                <a:cs typeface="Geist Bold" pitchFamily="34" charset="-120"/>
              </a:rPr>
              <a:t>average monthly spending intensity</a:t>
            </a:r>
            <a:pPr algn="l" indent="0" marL="0">
              <a:lnSpc>
                <a:spcPct val="93000"/>
              </a:lnSpc>
              <a:buNone/>
            </a:pPr>
            <a:r>
              <a:rPr lang="en-US" sz="900" dirty="0">
                <a:solidFill>
                  <a:srgbClr val="EBEDF0"/>
                </a:solidFill>
                <a:latin typeface="Geist" pitchFamily="34" charset="0"/>
                <a:ea typeface="Geist" pitchFamily="34" charset="-122"/>
                <a:cs typeface="Geist" pitchFamily="34" charset="-120"/>
              </a:rPr>
              <a:t> across their entire relationship with ConnectTel. A customer who spends more per month relative to tenure may signal higher service dependency — or alternatively, billing shock that drives churn.</a:t>
            </a:r>
            <a:endParaRPr lang="en-US" sz="900" dirty="0"/>
          </a:p>
        </p:txBody>
      </p:sp>
      <p:pic>
        <p:nvPicPr>
          <p:cNvPr id="7" name="Image 1" descr="preencoded.png">    </p:cNvPr>
          <p:cNvPicPr>
            <a:picLocks noChangeAspect="1"/>
          </p:cNvPicPr>
          <p:nvPr/>
        </p:nvPicPr>
        <p:blipFill>
          <a:blip r:embed="rId2"/>
          <a:stretch>
            <a:fillRect/>
          </a:stretch>
        </p:blipFill>
        <p:spPr>
          <a:xfrm>
            <a:off x="4319976" y="1267123"/>
            <a:ext cx="781328" cy="781348"/>
          </a:xfrm>
          <a:prstGeom prst="rect">
            <a:avLst/>
          </a:prstGeom>
        </p:spPr>
      </p:pic>
      <p:sp>
        <p:nvSpPr>
          <p:cNvPr id="8" name="Text 4"/>
          <p:cNvSpPr/>
          <p:nvPr/>
        </p:nvSpPr>
        <p:spPr>
          <a:xfrm>
            <a:off x="5208060" y="1267123"/>
            <a:ext cx="2663659" cy="193179"/>
          </a:xfrm>
          <a:prstGeom prst="rect">
            <a:avLst/>
          </a:prstGeom>
          <a:noFill/>
          <a:ln/>
        </p:spPr>
        <p:txBody>
          <a:bodyPr wrap="none" lIns="0" tIns="0" rIns="0" bIns="0" rtlCol="0" anchor="t"/>
          <a:lstStyle/>
          <a:p>
            <a:pPr algn="l" indent="0" marL="0">
              <a:lnSpc>
                <a:spcPct val="108000"/>
              </a:lnSpc>
              <a:buNone/>
            </a:pPr>
            <a:r>
              <a:rPr lang="en-US" sz="1150" b="1" spc="-23" kern="0" dirty="0">
                <a:solidFill>
                  <a:srgbClr val="EBEDF0"/>
                </a:solidFill>
                <a:latin typeface="Geist Bold" pitchFamily="34" charset="0"/>
                <a:ea typeface="Geist Bold" pitchFamily="34" charset="-122"/>
                <a:cs typeface="Geist Bold" pitchFamily="34" charset="-120"/>
              </a:rPr>
              <a:t>ServiceCount</a:t>
            </a:r>
            <a:endParaRPr lang="en-US" sz="1150" dirty="0"/>
          </a:p>
        </p:txBody>
      </p:sp>
      <p:sp>
        <p:nvSpPr>
          <p:cNvPr id="9" name="Text 5"/>
          <p:cNvSpPr/>
          <p:nvPr/>
        </p:nvSpPr>
        <p:spPr>
          <a:xfrm>
            <a:off x="5208060" y="1511498"/>
            <a:ext cx="2663659" cy="847725"/>
          </a:xfrm>
          <a:prstGeom prst="rect">
            <a:avLst/>
          </a:prstGeom>
          <a:noFill/>
          <a:ln/>
        </p:spPr>
        <p:txBody>
          <a:bodyPr wrap="square" lIns="0" tIns="0" rIns="0" bIns="0" rtlCol="0" anchor="t"/>
          <a:lstStyle/>
          <a:p>
            <a:pPr algn="l" indent="0" marL="0">
              <a:lnSpc>
                <a:spcPct val="93000"/>
              </a:lnSpc>
              <a:spcAft>
                <a:spcPts val="400"/>
              </a:spcAft>
              <a:buNone/>
            </a:pPr>
            <a:r>
              <a:rPr lang="en-US" sz="900" b="1" dirty="0">
                <a:solidFill>
                  <a:srgbClr val="EBEDF0"/>
                </a:solidFill>
                <a:latin typeface="Geist Bold" pitchFamily="34" charset="0"/>
                <a:ea typeface="Geist Bold" pitchFamily="34" charset="-122"/>
                <a:cs typeface="Geist Bold" pitchFamily="34" charset="-120"/>
              </a:rPr>
              <a:t>Formula:</a:t>
            </a:r>
            <a:pPr algn="l" indent="0" marL="0">
              <a:lnSpc>
                <a:spcPct val="93000"/>
              </a:lnSpc>
              <a:spcAft>
                <a:spcPts val="400"/>
              </a:spcAft>
              <a:buNone/>
            </a:pPr>
            <a:r>
              <a:rPr lang="en-US" sz="900" dirty="0">
                <a:solidFill>
                  <a:srgbClr val="EBEDF0"/>
                </a:solidFill>
                <a:latin typeface="Geist" pitchFamily="34" charset="0"/>
                <a:ea typeface="Geist" pitchFamily="34" charset="-122"/>
                <a:cs typeface="Geist" pitchFamily="34" charset="-120"/>
              </a:rPr>
              <a:t> Count of active service subscriptions</a:t>
            </a:r>
            <a:endParaRPr lang="en-US" sz="900" dirty="0"/>
          </a:p>
          <a:p>
            <a:pPr algn="l" indent="0" marL="0">
              <a:lnSpc>
                <a:spcPct val="93000"/>
              </a:lnSpc>
              <a:buNone/>
            </a:pPr>
            <a:r>
              <a:rPr lang="en-US" sz="900" dirty="0">
                <a:solidFill>
                  <a:srgbClr val="EBEDF0"/>
                </a:solidFill>
                <a:latin typeface="Geist" pitchFamily="34" charset="0"/>
                <a:ea typeface="Geist" pitchFamily="34" charset="-122"/>
                <a:cs typeface="Geist" pitchFamily="34" charset="-120"/>
              </a:rPr>
              <a:t>Measures the </a:t>
            </a:r>
            <a:pPr algn="l" indent="0" marL="0">
              <a:lnSpc>
                <a:spcPct val="93000"/>
              </a:lnSpc>
              <a:buNone/>
            </a:pPr>
            <a:r>
              <a:rPr lang="en-US" sz="900" b="1" dirty="0">
                <a:solidFill>
                  <a:srgbClr val="EBEDF0"/>
                </a:solidFill>
                <a:latin typeface="Geist Bold" pitchFamily="34" charset="0"/>
                <a:ea typeface="Geist Bold" pitchFamily="34" charset="-122"/>
                <a:cs typeface="Geist Bold" pitchFamily="34" charset="-120"/>
              </a:rPr>
              <a:t>breadth of service adoption</a:t>
            </a:r>
            <a:pPr algn="l" indent="0" marL="0">
              <a:lnSpc>
                <a:spcPct val="93000"/>
              </a:lnSpc>
              <a:buNone/>
            </a:pPr>
            <a:r>
              <a:rPr lang="en-US" sz="900" dirty="0">
                <a:solidFill>
                  <a:srgbClr val="EBEDF0"/>
                </a:solidFill>
                <a:latin typeface="Geist" pitchFamily="34" charset="0"/>
                <a:ea typeface="Geist" pitchFamily="34" charset="-122"/>
                <a:cs typeface="Geist" pitchFamily="34" charset="-120"/>
              </a:rPr>
              <a:t> across phone, internet, streaming, security, and support products. Customers with deeper service integration tend to have higher switching costs and lower churn propensity.</a:t>
            </a:r>
            <a:endParaRPr lang="en-US" sz="900" dirty="0"/>
          </a:p>
        </p:txBody>
      </p:sp>
      <p:pic>
        <p:nvPicPr>
          <p:cNvPr id="10" name="Image 2" descr="preencoded.png">    </p:cNvPr>
          <p:cNvPicPr>
            <a:picLocks noChangeAspect="1"/>
          </p:cNvPicPr>
          <p:nvPr/>
        </p:nvPicPr>
        <p:blipFill>
          <a:blip r:embed="rId3"/>
          <a:stretch>
            <a:fillRect/>
          </a:stretch>
        </p:blipFill>
        <p:spPr>
          <a:xfrm>
            <a:off x="7978476" y="1267123"/>
            <a:ext cx="781328" cy="781348"/>
          </a:xfrm>
          <a:prstGeom prst="rect">
            <a:avLst/>
          </a:prstGeom>
        </p:spPr>
      </p:pic>
      <p:sp>
        <p:nvSpPr>
          <p:cNvPr id="11" name="Text 6"/>
          <p:cNvSpPr/>
          <p:nvPr/>
        </p:nvSpPr>
        <p:spPr>
          <a:xfrm>
            <a:off x="8866561" y="1267123"/>
            <a:ext cx="2663659" cy="193179"/>
          </a:xfrm>
          <a:prstGeom prst="rect">
            <a:avLst/>
          </a:prstGeom>
          <a:noFill/>
          <a:ln/>
        </p:spPr>
        <p:txBody>
          <a:bodyPr wrap="none" lIns="0" tIns="0" rIns="0" bIns="0" rtlCol="0" anchor="t"/>
          <a:lstStyle/>
          <a:p>
            <a:pPr algn="l" indent="0" marL="0">
              <a:lnSpc>
                <a:spcPct val="108000"/>
              </a:lnSpc>
              <a:buNone/>
            </a:pPr>
            <a:r>
              <a:rPr lang="en-US" sz="1150" b="1" spc="-23" kern="0" dirty="0">
                <a:solidFill>
                  <a:srgbClr val="EBEDF0"/>
                </a:solidFill>
                <a:latin typeface="Geist Bold" pitchFamily="34" charset="0"/>
                <a:ea typeface="Geist Bold" pitchFamily="34" charset="-122"/>
                <a:cs typeface="Geist Bold" pitchFamily="34" charset="-120"/>
              </a:rPr>
              <a:t>Additional Engineered Features</a:t>
            </a:r>
            <a:endParaRPr lang="en-US" sz="1150" dirty="0"/>
          </a:p>
        </p:txBody>
      </p:sp>
      <p:sp>
        <p:nvSpPr>
          <p:cNvPr id="12" name="Text 7"/>
          <p:cNvSpPr/>
          <p:nvPr/>
        </p:nvSpPr>
        <p:spPr>
          <a:xfrm>
            <a:off x="8866561" y="1511498"/>
            <a:ext cx="2663659" cy="847725"/>
          </a:xfrm>
          <a:prstGeom prst="rect">
            <a:avLst/>
          </a:prstGeom>
          <a:noFill/>
          <a:ln/>
        </p:spPr>
        <p:txBody>
          <a:bodyPr wrap="square" lIns="0" tIns="0" rIns="0" bIns="0" rtlCol="0" anchor="t">
            <a:normAutofit/>
          </a:bodyPr>
          <a:lstStyle/>
          <a:p>
            <a:pPr algn="l" indent="0" marL="0">
              <a:lnSpc>
                <a:spcPct val="93000"/>
              </a:lnSpc>
              <a:spcAft>
                <a:spcPts val="400"/>
              </a:spcAft>
              <a:buNone/>
            </a:pPr>
            <a:r>
              <a:rPr lang="en-US" sz="900" b="1" dirty="0">
                <a:solidFill>
                  <a:srgbClr val="EBEDF0"/>
                </a:solidFill>
                <a:latin typeface="Geist Bold" pitchFamily="34" charset="0"/>
                <a:ea typeface="Geist Bold" pitchFamily="34" charset="-122"/>
                <a:cs typeface="Geist Bold" pitchFamily="34" charset="-120"/>
              </a:rPr>
              <a:t>Design goal:</a:t>
            </a:r>
            <a:pPr algn="l" indent="0" marL="0">
              <a:lnSpc>
                <a:spcPct val="93000"/>
              </a:lnSpc>
              <a:spcAft>
                <a:spcPts val="400"/>
              </a:spcAft>
              <a:buNone/>
            </a:pPr>
            <a:r>
              <a:rPr lang="en-US" sz="900" dirty="0">
                <a:solidFill>
                  <a:srgbClr val="EBEDF0"/>
                </a:solidFill>
                <a:latin typeface="Geist" pitchFamily="34" charset="0"/>
                <a:ea typeface="Geist" pitchFamily="34" charset="-122"/>
                <a:cs typeface="Geist" pitchFamily="34" charset="-120"/>
              </a:rPr>
              <a:t> Capture nonlinear relationships and service interaction effects not expressed by any single raw variable.</a:t>
            </a:r>
            <a:endParaRPr lang="en-US" sz="900" dirty="0"/>
          </a:p>
          <a:p>
            <a:pPr algn="l" indent="0" marL="0">
              <a:lnSpc>
                <a:spcPct val="93000"/>
              </a:lnSpc>
              <a:buNone/>
            </a:pPr>
            <a:r>
              <a:rPr lang="en-US" sz="900" dirty="0">
                <a:solidFill>
                  <a:srgbClr val="EBEDF0"/>
                </a:solidFill>
                <a:latin typeface="Geist" pitchFamily="34" charset="0"/>
                <a:ea typeface="Geist" pitchFamily="34" charset="-122"/>
                <a:cs typeface="Geist" pitchFamily="34" charset="-120"/>
              </a:rPr>
              <a:t>Additional features will be finalized during implementation based on correlation analysis and model-driven feature selection.</a:t>
            </a:r>
            <a:endParaRPr lang="en-US" sz="900" dirty="0"/>
          </a:p>
        </p:txBody>
      </p:sp>
      <p:pic>
        <p:nvPicPr>
          <p:cNvPr id="13" name="Image 3" descr="preencoded.png">    </p:cNvPr>
          <p:cNvPicPr>
            <a:picLocks noChangeAspect="1"/>
          </p:cNvPicPr>
          <p:nvPr/>
        </p:nvPicPr>
        <p:blipFill>
          <a:blip r:embed="rId4"/>
          <a:stretch>
            <a:fillRect/>
          </a:stretch>
        </p:blipFill>
        <p:spPr>
          <a:xfrm>
            <a:off x="2904060" y="2588022"/>
            <a:ext cx="6383575" cy="3788767"/>
          </a:xfrm>
          <a:prstGeom prst="rect">
            <a:avLst/>
          </a:prstGeom>
        </p:spPr>
      </p:pic>
      <p:sp>
        <p:nvSpPr>
          <p:cNvPr id="14" name="Text 8"/>
          <p:cNvSpPr/>
          <p:nvPr/>
        </p:nvSpPr>
        <p:spPr>
          <a:xfrm>
            <a:off x="7347124" y="5332892"/>
            <a:ext cx="1586812" cy="635827"/>
          </a:xfrm>
          <a:prstGeom prst="rect">
            <a:avLst/>
          </a:prstGeom>
          <a:noFill/>
          <a:ln/>
        </p:spPr>
        <p:txBody>
          <a:bodyPr wrap="square" lIns="0" tIns="0" rIns="0" bIns="0" rtlCol="0" anchor="t">
            <a:normAutofit/>
          </a:bodyPr>
          <a:lstStyle/>
          <a:p>
            <a:pPr algn="ctr" indent="0" marL="0">
              <a:lnSpc>
                <a:spcPct val="108000"/>
              </a:lnSpc>
              <a:buNone/>
            </a:pPr>
            <a:r>
              <a:rPr lang="en-US" sz="1900" b="1" spc="-39" kern="0" dirty="0">
                <a:solidFill>
                  <a:srgbClr val="EBEDF0"/>
                </a:solidFill>
                <a:latin typeface="Geist Bold" pitchFamily="34" charset="0"/>
                <a:ea typeface="Geist Bold" pitchFamily="34" charset="-122"/>
                <a:cs typeface="Geist Bold" pitchFamily="34" charset="-120"/>
              </a:rPr>
              <a:t>Model-Ready Matrix</a:t>
            </a:r>
            <a:endParaRPr lang="en-US" sz="1900" dirty="0"/>
          </a:p>
        </p:txBody>
      </p:sp>
      <p:sp>
        <p:nvSpPr>
          <p:cNvPr id="15" name="Text 9"/>
          <p:cNvSpPr/>
          <p:nvPr/>
        </p:nvSpPr>
        <p:spPr>
          <a:xfrm>
            <a:off x="5347307" y="5332892"/>
            <a:ext cx="1586812" cy="635827"/>
          </a:xfrm>
          <a:prstGeom prst="rect">
            <a:avLst/>
          </a:prstGeom>
          <a:noFill/>
          <a:ln/>
        </p:spPr>
        <p:txBody>
          <a:bodyPr wrap="square" lIns="0" tIns="0" rIns="0" bIns="0" rtlCol="0" anchor="t">
            <a:normAutofit/>
          </a:bodyPr>
          <a:lstStyle/>
          <a:p>
            <a:pPr algn="ctr" indent="0" marL="0">
              <a:lnSpc>
                <a:spcPct val="108000"/>
              </a:lnSpc>
              <a:buNone/>
            </a:pPr>
            <a:r>
              <a:rPr lang="en-US" sz="1900" b="1" spc="-39" kern="0" dirty="0">
                <a:solidFill>
                  <a:srgbClr val="EBEDF0"/>
                </a:solidFill>
                <a:latin typeface="Geist Bold" pitchFamily="34" charset="0"/>
                <a:ea typeface="Geist Bold" pitchFamily="34" charset="-122"/>
                <a:cs typeface="Geist Bold" pitchFamily="34" charset="-120"/>
              </a:rPr>
              <a:t>Feature Engineering</a:t>
            </a:r>
            <a:endParaRPr lang="en-US" sz="1900" dirty="0"/>
          </a:p>
        </p:txBody>
      </p:sp>
      <p:sp>
        <p:nvSpPr>
          <p:cNvPr id="16" name="Text 10"/>
          <p:cNvSpPr/>
          <p:nvPr/>
        </p:nvSpPr>
        <p:spPr>
          <a:xfrm>
            <a:off x="3314884" y="5173936"/>
            <a:ext cx="1586812" cy="953741"/>
          </a:xfrm>
          <a:prstGeom prst="rect">
            <a:avLst/>
          </a:prstGeom>
          <a:noFill/>
          <a:ln/>
        </p:spPr>
        <p:txBody>
          <a:bodyPr wrap="square" lIns="0" tIns="0" rIns="0" bIns="0" rtlCol="0" anchor="t">
            <a:normAutofit/>
          </a:bodyPr>
          <a:lstStyle/>
          <a:p>
            <a:pPr algn="ctr" indent="0" marL="0">
              <a:lnSpc>
                <a:spcPct val="108000"/>
              </a:lnSpc>
              <a:buNone/>
            </a:pPr>
            <a:r>
              <a:rPr lang="en-US" sz="1900" b="1" spc="-39" kern="0" dirty="0">
                <a:solidFill>
                  <a:srgbClr val="EBEDF0"/>
                </a:solidFill>
                <a:latin typeface="Geist Bold" pitchFamily="34" charset="0"/>
                <a:ea typeface="Geist Bold" pitchFamily="34" charset="-122"/>
                <a:cs typeface="Geist Bold" pitchFamily="34" charset="-120"/>
              </a:rPr>
              <a:t>Raw Customer Data</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902494"/>
            <a:ext cx="10868745" cy="537468"/>
          </a:xfrm>
          <a:prstGeom prst="rect">
            <a:avLst/>
          </a:prstGeom>
          <a:noFill/>
          <a:ln/>
        </p:spPr>
        <p:txBody>
          <a:bodyPr wrap="none" lIns="0" tIns="0" rIns="0" bIns="0" rtlCol="0" anchor="t"/>
          <a:lstStyle/>
          <a:p>
            <a:pPr algn="l" indent="0" marL="0">
              <a:lnSpc>
                <a:spcPct val="108000"/>
              </a:lnSpc>
              <a:buNone/>
            </a:pPr>
            <a:r>
              <a:rPr lang="en-US" sz="3250" b="1" spc="-65" kern="0" dirty="0">
                <a:solidFill>
                  <a:srgbClr val="F2F5FA"/>
                </a:solidFill>
                <a:latin typeface="Geist Bold" pitchFamily="34" charset="0"/>
                <a:ea typeface="Geist Bold" pitchFamily="34" charset="-122"/>
                <a:cs typeface="Geist Bold" pitchFamily="34" charset="-120"/>
              </a:rPr>
              <a:t>Machine Learning Approach</a:t>
            </a:r>
            <a:endParaRPr lang="en-US" sz="3250" dirty="0"/>
          </a:p>
        </p:txBody>
      </p:sp>
      <p:sp>
        <p:nvSpPr>
          <p:cNvPr id="3" name="Text 1"/>
          <p:cNvSpPr/>
          <p:nvPr/>
        </p:nvSpPr>
        <p:spPr>
          <a:xfrm>
            <a:off x="661475" y="1770658"/>
            <a:ext cx="10868745" cy="430014"/>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Three model families are benchmarked to capture different types of patterns in customer behavior — from interpretable linear relationships to complex nonlinear interactions.</a:t>
            </a:r>
            <a:endParaRPr lang="en-US" sz="1300" dirty="0"/>
          </a:p>
        </p:txBody>
      </p:sp>
      <p:sp>
        <p:nvSpPr>
          <p:cNvPr id="4" name="Shape 2"/>
          <p:cNvSpPr/>
          <p:nvPr/>
        </p:nvSpPr>
        <p:spPr>
          <a:xfrm>
            <a:off x="661475" y="2386707"/>
            <a:ext cx="10868745" cy="2555974"/>
          </a:xfrm>
          <a:prstGeom prst="roundRect">
            <a:avLst>
              <a:gd name="adj" fmla="val 2718"/>
            </a:avLst>
          </a:prstGeom>
          <a:solidFill>
            <a:srgbClr val="101620"/>
          </a:solidFill>
          <a:ln w="19050">
            <a:solidFill>
              <a:srgbClr val="002A80"/>
            </a:solidFill>
            <a:prstDash val="solid"/>
          </a:ln>
        </p:spPr>
      </p:sp>
      <p:sp>
        <p:nvSpPr>
          <p:cNvPr id="5" name="Shape 3"/>
          <p:cNvSpPr/>
          <p:nvPr/>
        </p:nvSpPr>
        <p:spPr>
          <a:xfrm>
            <a:off x="680524" y="2405757"/>
            <a:ext cx="3610182" cy="2517874"/>
          </a:xfrm>
          <a:custGeom>
            <a:avLst/>
            <a:gdLst/>
            <a:ahLst/>
            <a:cxnLst/>
            <a:rect l="l" t="t" r="r" b="b"/>
            <a:pathLst>
              <a:path w="3610182" h="2517874">
                <a:moveTo>
                  <a:pt x="57887" y="0"/>
                </a:moveTo>
                <a:lnTo>
                  <a:pt x="3610182" y="0"/>
                </a:lnTo>
                <a:lnTo>
                  <a:pt x="3610182" y="2517874"/>
                </a:lnTo>
                <a:lnTo>
                  <a:pt x="57887" y="2517874"/>
                </a:lnTo>
                <a:arcTo hR="57888" wR="57887" stAng="5400000" swAng="5400000"/>
                <a:lnTo>
                  <a:pt x="0" y="57888"/>
                </a:lnTo>
                <a:arcTo hR="57888" wR="57887" stAng="10800000" swAng="5400000"/>
                <a:close/>
              </a:path>
            </a:pathLst>
          </a:custGeom>
          <a:solidFill>
            <a:srgbClr val="101620"/>
          </a:solidFill>
          <a:ln/>
        </p:spPr>
      </p:sp>
      <p:sp>
        <p:nvSpPr>
          <p:cNvPr id="6" name="Text 4"/>
          <p:cNvSpPr/>
          <p:nvPr/>
        </p:nvSpPr>
        <p:spPr>
          <a:xfrm>
            <a:off x="845819" y="2571055"/>
            <a:ext cx="3031454"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Logistic Regression</a:t>
            </a:r>
            <a:endParaRPr lang="en-US" sz="1600" dirty="0"/>
          </a:p>
        </p:txBody>
      </p:sp>
      <p:sp>
        <p:nvSpPr>
          <p:cNvPr id="7" name="Text 5"/>
          <p:cNvSpPr/>
          <p:nvPr/>
        </p:nvSpPr>
        <p:spPr>
          <a:xfrm>
            <a:off x="845819" y="2939058"/>
            <a:ext cx="3031454" cy="1389261"/>
          </a:xfrm>
          <a:prstGeom prst="rect">
            <a:avLst/>
          </a:prstGeom>
          <a:noFill/>
          <a:ln/>
        </p:spPr>
        <p:txBody>
          <a:bodyPr wrap="square" lIns="0" tIns="0" rIns="0" bIns="0" rtlCol="0" anchor="t"/>
          <a:lstStyle/>
          <a:p>
            <a:pPr algn="l" indent="0" marL="0">
              <a:lnSpc>
                <a:spcPct val="108000"/>
              </a:lnSpc>
              <a:spcAft>
                <a:spcPts val="750"/>
              </a:spcAft>
              <a:buNone/>
            </a:pPr>
            <a:r>
              <a:rPr lang="en-US" sz="1300" b="1" dirty="0">
                <a:solidFill>
                  <a:srgbClr val="EBEDF0"/>
                </a:solidFill>
                <a:latin typeface="Geist Bold" pitchFamily="34" charset="0"/>
                <a:ea typeface="Geist Bold" pitchFamily="34" charset="-122"/>
                <a:cs typeface="Geist Bold" pitchFamily="34" charset="-120"/>
              </a:rPr>
              <a:t>Role:</a:t>
            </a:r>
            <a:pPr algn="l" indent="0" marL="0">
              <a:lnSpc>
                <a:spcPct val="108000"/>
              </a:lnSpc>
              <a:spcAft>
                <a:spcPts val="750"/>
              </a:spcAft>
              <a:buNone/>
            </a:pPr>
            <a:r>
              <a:rPr lang="en-US" sz="1300" dirty="0">
                <a:solidFill>
                  <a:srgbClr val="EBEDF0"/>
                </a:solidFill>
                <a:latin typeface="Geist" pitchFamily="34" charset="0"/>
                <a:ea typeface="Geist" pitchFamily="34" charset="-122"/>
                <a:cs typeface="Geist" pitchFamily="34" charset="-120"/>
              </a:rPr>
              <a:t> Interpretable baseline</a:t>
            </a:r>
            <a:endParaRPr lang="en-US" sz="1300" dirty="0"/>
          </a:p>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Establishes a performance floor and provides coefficient-level transparency. Any more complex model must meaningfully outperform this baseline to justify its added complexity.</a:t>
            </a:r>
            <a:endParaRPr lang="en-US" sz="1300" dirty="0"/>
          </a:p>
        </p:txBody>
      </p:sp>
      <p:sp>
        <p:nvSpPr>
          <p:cNvPr id="8" name="Shape 6"/>
          <p:cNvSpPr/>
          <p:nvPr/>
        </p:nvSpPr>
        <p:spPr>
          <a:xfrm>
            <a:off x="4290707" y="2405757"/>
            <a:ext cx="3610182" cy="2517874"/>
          </a:xfrm>
          <a:prstGeom prst="rect">
            <a:avLst/>
          </a:prstGeom>
          <a:solidFill>
            <a:srgbClr val="101620"/>
          </a:solidFill>
          <a:ln/>
        </p:spPr>
      </p:sp>
      <p:sp>
        <p:nvSpPr>
          <p:cNvPr id="9" name="Shape 7"/>
          <p:cNvSpPr/>
          <p:nvPr/>
        </p:nvSpPr>
        <p:spPr>
          <a:xfrm>
            <a:off x="4290707" y="2405757"/>
            <a:ext cx="19050" cy="2517874"/>
          </a:xfrm>
          <a:prstGeom prst="roundRect">
            <a:avLst>
              <a:gd name="adj" fmla="val 49999"/>
            </a:avLst>
          </a:prstGeom>
          <a:solidFill>
            <a:srgbClr val="002A80"/>
          </a:solidFill>
          <a:ln/>
        </p:spPr>
      </p:sp>
      <p:sp>
        <p:nvSpPr>
          <p:cNvPr id="10" name="Text 8"/>
          <p:cNvSpPr/>
          <p:nvPr/>
        </p:nvSpPr>
        <p:spPr>
          <a:xfrm>
            <a:off x="4704141" y="2571055"/>
            <a:ext cx="2783314"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Random Forest</a:t>
            </a:r>
            <a:endParaRPr lang="en-US" sz="1600" dirty="0"/>
          </a:p>
        </p:txBody>
      </p:sp>
      <p:sp>
        <p:nvSpPr>
          <p:cNvPr id="11" name="Text 9"/>
          <p:cNvSpPr/>
          <p:nvPr/>
        </p:nvSpPr>
        <p:spPr>
          <a:xfrm>
            <a:off x="4704141" y="2939058"/>
            <a:ext cx="2783314" cy="1819275"/>
          </a:xfrm>
          <a:prstGeom prst="rect">
            <a:avLst/>
          </a:prstGeom>
          <a:noFill/>
          <a:ln/>
        </p:spPr>
        <p:txBody>
          <a:bodyPr wrap="square" lIns="0" tIns="0" rIns="0" bIns="0" rtlCol="0" anchor="t"/>
          <a:lstStyle/>
          <a:p>
            <a:pPr algn="l" indent="0" marL="0">
              <a:lnSpc>
                <a:spcPct val="108000"/>
              </a:lnSpc>
              <a:spcAft>
                <a:spcPts val="750"/>
              </a:spcAft>
              <a:buNone/>
            </a:pPr>
            <a:r>
              <a:rPr lang="en-US" sz="1300" b="1" dirty="0">
                <a:solidFill>
                  <a:srgbClr val="EBEDF0"/>
                </a:solidFill>
                <a:latin typeface="Geist Bold" pitchFamily="34" charset="0"/>
                <a:ea typeface="Geist Bold" pitchFamily="34" charset="-122"/>
                <a:cs typeface="Geist Bold" pitchFamily="34" charset="-120"/>
              </a:rPr>
              <a:t>Role:</a:t>
            </a:r>
            <a:pPr algn="l" indent="0" marL="0">
              <a:lnSpc>
                <a:spcPct val="108000"/>
              </a:lnSpc>
              <a:spcAft>
                <a:spcPts val="750"/>
              </a:spcAft>
              <a:buNone/>
            </a:pPr>
            <a:r>
              <a:rPr lang="en-US" sz="1300" dirty="0">
                <a:solidFill>
                  <a:srgbClr val="EBEDF0"/>
                </a:solidFill>
                <a:latin typeface="Geist" pitchFamily="34" charset="0"/>
                <a:ea typeface="Geist" pitchFamily="34" charset="-122"/>
                <a:cs typeface="Geist" pitchFamily="34" charset="-120"/>
              </a:rPr>
              <a:t> Nonlinear ensemble</a:t>
            </a:r>
            <a:endParaRPr lang="en-US" sz="1300" dirty="0"/>
          </a:p>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Captures nonlinear feature relationships and complex interactions through bagged decision trees. Robust to outliers and naturally handles mixed feature types without extensive preprocessing.</a:t>
            </a:r>
            <a:endParaRPr lang="en-US" sz="1300" dirty="0"/>
          </a:p>
        </p:txBody>
      </p:sp>
      <p:sp>
        <p:nvSpPr>
          <p:cNvPr id="12" name="Shape 10"/>
          <p:cNvSpPr/>
          <p:nvPr/>
        </p:nvSpPr>
        <p:spPr>
          <a:xfrm>
            <a:off x="7900889" y="2405757"/>
            <a:ext cx="3610282" cy="2517874"/>
          </a:xfrm>
          <a:custGeom>
            <a:avLst/>
            <a:gdLst/>
            <a:ahLst/>
            <a:cxnLst/>
            <a:rect l="l" t="t" r="r" b="b"/>
            <a:pathLst>
              <a:path w="3610282" h="2517874">
                <a:moveTo>
                  <a:pt x="0" y="0"/>
                </a:moveTo>
                <a:lnTo>
                  <a:pt x="3552395" y="0"/>
                </a:lnTo>
                <a:arcTo hR="57888" wR="57887" stAng="16200000" swAng="5400000"/>
                <a:lnTo>
                  <a:pt x="3610282" y="2459986"/>
                </a:lnTo>
                <a:arcTo hR="57888" wR="57887" stAng="0" swAng="5400000"/>
                <a:lnTo>
                  <a:pt x="0" y="2517874"/>
                </a:lnTo>
                <a:lnTo>
                  <a:pt x="0" y="0"/>
                </a:lnTo>
                <a:close/>
              </a:path>
            </a:pathLst>
          </a:custGeom>
          <a:solidFill>
            <a:srgbClr val="101620"/>
          </a:solidFill>
          <a:ln/>
        </p:spPr>
      </p:sp>
      <p:sp>
        <p:nvSpPr>
          <p:cNvPr id="13" name="Shape 11"/>
          <p:cNvSpPr/>
          <p:nvPr/>
        </p:nvSpPr>
        <p:spPr>
          <a:xfrm>
            <a:off x="7900889" y="2405757"/>
            <a:ext cx="19050" cy="2517874"/>
          </a:xfrm>
          <a:prstGeom prst="roundRect">
            <a:avLst>
              <a:gd name="adj" fmla="val 49999"/>
            </a:avLst>
          </a:prstGeom>
          <a:solidFill>
            <a:srgbClr val="002A80"/>
          </a:solidFill>
          <a:ln/>
        </p:spPr>
      </p:sp>
      <p:sp>
        <p:nvSpPr>
          <p:cNvPr id="14" name="Text 12"/>
          <p:cNvSpPr/>
          <p:nvPr/>
        </p:nvSpPr>
        <p:spPr>
          <a:xfrm>
            <a:off x="8314323" y="2571055"/>
            <a:ext cx="3031553" cy="268784"/>
          </a:xfrm>
          <a:prstGeom prst="rect">
            <a:avLst/>
          </a:prstGeom>
          <a:noFill/>
          <a:ln/>
        </p:spPr>
        <p:txBody>
          <a:bodyPr wrap="none" lIns="0" tIns="0" rIns="0" bIns="0" rtlCol="0" anchor="t"/>
          <a:lstStyle/>
          <a:p>
            <a:pPr algn="l" indent="0" marL="0">
              <a:lnSpc>
                <a:spcPct val="108000"/>
              </a:lnSpc>
              <a:buNone/>
            </a:pPr>
            <a:r>
              <a:rPr lang="en-US" sz="1600" b="1" spc="-33" kern="0" dirty="0">
                <a:solidFill>
                  <a:srgbClr val="EBEDF0"/>
                </a:solidFill>
                <a:latin typeface="Geist Bold" pitchFamily="34" charset="0"/>
                <a:ea typeface="Geist Bold" pitchFamily="34" charset="-122"/>
                <a:cs typeface="Geist Bold" pitchFamily="34" charset="-120"/>
              </a:rPr>
              <a:t>XGBoost</a:t>
            </a:r>
            <a:endParaRPr lang="en-US" sz="1600" dirty="0"/>
          </a:p>
        </p:txBody>
      </p:sp>
      <p:sp>
        <p:nvSpPr>
          <p:cNvPr id="15" name="Text 13"/>
          <p:cNvSpPr/>
          <p:nvPr/>
        </p:nvSpPr>
        <p:spPr>
          <a:xfrm>
            <a:off x="8314323" y="2939058"/>
            <a:ext cx="3031553" cy="1389261"/>
          </a:xfrm>
          <a:prstGeom prst="rect">
            <a:avLst/>
          </a:prstGeom>
          <a:noFill/>
          <a:ln/>
        </p:spPr>
        <p:txBody>
          <a:bodyPr wrap="square" lIns="0" tIns="0" rIns="0" bIns="0" rtlCol="0" anchor="t"/>
          <a:lstStyle/>
          <a:p>
            <a:pPr algn="l" indent="0" marL="0">
              <a:lnSpc>
                <a:spcPct val="108000"/>
              </a:lnSpc>
              <a:spcAft>
                <a:spcPts val="750"/>
              </a:spcAft>
              <a:buNone/>
            </a:pPr>
            <a:r>
              <a:rPr lang="en-US" sz="1300" b="1" dirty="0">
                <a:solidFill>
                  <a:srgbClr val="EBEDF0"/>
                </a:solidFill>
                <a:latin typeface="Geist Bold" pitchFamily="34" charset="0"/>
                <a:ea typeface="Geist Bold" pitchFamily="34" charset="-122"/>
                <a:cs typeface="Geist Bold" pitchFamily="34" charset="-120"/>
              </a:rPr>
              <a:t>Role:</a:t>
            </a:r>
            <a:pPr algn="l" indent="0" marL="0">
              <a:lnSpc>
                <a:spcPct val="108000"/>
              </a:lnSpc>
              <a:spcAft>
                <a:spcPts val="750"/>
              </a:spcAft>
              <a:buNone/>
            </a:pPr>
            <a:r>
              <a:rPr lang="en-US" sz="1300" dirty="0">
                <a:solidFill>
                  <a:srgbClr val="EBEDF0"/>
                </a:solidFill>
                <a:latin typeface="Geist" pitchFamily="34" charset="0"/>
                <a:ea typeface="Geist" pitchFamily="34" charset="-122"/>
                <a:cs typeface="Geist" pitchFamily="34" charset="-120"/>
              </a:rPr>
              <a:t> Gradient boosting champion</a:t>
            </a:r>
            <a:endParaRPr lang="en-US" sz="1300" dirty="0"/>
          </a:p>
          <a:p>
            <a:pPr algn="l" indent="0" marL="0">
              <a:lnSpc>
                <a:spcPct val="108000"/>
              </a:lnSpc>
              <a:buNone/>
            </a:pPr>
            <a:r>
              <a:rPr lang="en-US" sz="1300" dirty="0">
                <a:solidFill>
                  <a:srgbClr val="EBEDF0"/>
                </a:solidFill>
                <a:latin typeface="Geist" pitchFamily="34" charset="0"/>
                <a:ea typeface="Geist" pitchFamily="34" charset="-122"/>
                <a:cs typeface="Geist" pitchFamily="34" charset="-120"/>
              </a:rPr>
              <a:t>Sequentially corrects residual errors on tabular data. Strong out-of-the-box performance on structured datasets with efficient hyperparameter tuning via GridSearchCV.</a:t>
            </a:r>
            <a:endParaRPr lang="en-US" sz="1300" dirty="0"/>
          </a:p>
        </p:txBody>
      </p:sp>
      <p:sp>
        <p:nvSpPr>
          <p:cNvPr id="16" name="Shape 14"/>
          <p:cNvSpPr/>
          <p:nvPr/>
        </p:nvSpPr>
        <p:spPr>
          <a:xfrm>
            <a:off x="661475" y="5128716"/>
            <a:ext cx="10868745" cy="826691"/>
          </a:xfrm>
          <a:prstGeom prst="roundRect">
            <a:avLst>
              <a:gd name="adj" fmla="val 8403"/>
            </a:avLst>
          </a:prstGeom>
          <a:solidFill>
            <a:srgbClr val="002A80"/>
          </a:solidFill>
          <a:ln/>
        </p:spPr>
      </p:sp>
      <p:pic>
        <p:nvPicPr>
          <p:cNvPr id="17" name="Image 0" descr="preencoded.png">    </p:cNvPr>
          <p:cNvPicPr>
            <a:picLocks noChangeAspect="1"/>
          </p:cNvPicPr>
          <p:nvPr/>
        </p:nvPicPr>
        <p:blipFill>
          <a:blip r:embed="rId1"/>
          <a:stretch>
            <a:fillRect/>
          </a:stretch>
        </p:blipFill>
        <p:spPr>
          <a:xfrm>
            <a:off x="826769" y="5343029"/>
            <a:ext cx="206667" cy="165298"/>
          </a:xfrm>
          <a:prstGeom prst="rect">
            <a:avLst/>
          </a:prstGeom>
        </p:spPr>
      </p:pic>
      <p:sp>
        <p:nvSpPr>
          <p:cNvPr id="18" name="Text 15"/>
          <p:cNvSpPr/>
          <p:nvPr/>
        </p:nvSpPr>
        <p:spPr>
          <a:xfrm>
            <a:off x="1198731" y="5335290"/>
            <a:ext cx="10166195" cy="430014"/>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FFFFFF"/>
                </a:solidFill>
                <a:latin typeface="Geist" pitchFamily="34" charset="0"/>
                <a:ea typeface="Geist" pitchFamily="34" charset="-122"/>
                <a:cs typeface="Geist" pitchFamily="34" charset="-120"/>
              </a:rPr>
              <a:t>Model selection is not predetermined. Final choice will be driven by evaluation metrics on the held-out test set — not prior assumptions about which algorithm performs best.</a:t>
            </a:r>
            <a:endParaRPr lang="en-US" sz="1300" dirty="0"/>
          </a:p>
        </p:txBody>
      </p:sp>
      <p:sp>
        <p:nvSpPr>
          <p:cNvPr id="19" name="Shape 16"/>
          <p:cNvSpPr/>
          <p:nvPr/>
        </p:nvSpPr>
        <p:spPr>
          <a:xfrm>
            <a:off x="4084039" y="3457922"/>
            <a:ext cx="413434" cy="413445"/>
          </a:xfrm>
          <a:prstGeom prst="roundRect">
            <a:avLst>
              <a:gd name="adj" fmla="val 16802"/>
            </a:avLst>
          </a:prstGeom>
          <a:solidFill>
            <a:srgbClr val="101620">
              <a:alpha val="95000"/>
            </a:srgbClr>
          </a:solidFill>
          <a:ln w="19050">
            <a:solidFill>
              <a:srgbClr val="002A80"/>
            </a:solidFill>
            <a:prstDash val="solid"/>
          </a:ln>
        </p:spPr>
      </p:sp>
      <p:pic>
        <p:nvPicPr>
          <p:cNvPr id="2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87423" y="3561209"/>
            <a:ext cx="206667" cy="206673"/>
          </a:xfrm>
          <a:prstGeom prst="rect">
            <a:avLst/>
          </a:prstGeom>
        </p:spPr>
      </p:pic>
      <p:sp>
        <p:nvSpPr>
          <p:cNvPr id="21" name="Shape 17"/>
          <p:cNvSpPr/>
          <p:nvPr/>
        </p:nvSpPr>
        <p:spPr>
          <a:xfrm>
            <a:off x="7694222" y="3457922"/>
            <a:ext cx="413434" cy="413445"/>
          </a:xfrm>
          <a:prstGeom prst="roundRect">
            <a:avLst>
              <a:gd name="adj" fmla="val 16802"/>
            </a:avLst>
          </a:prstGeom>
          <a:solidFill>
            <a:srgbClr val="101620">
              <a:alpha val="95000"/>
            </a:srgbClr>
          </a:solidFill>
          <a:ln w="19050">
            <a:solidFill>
              <a:srgbClr val="002A80"/>
            </a:solidFill>
            <a:prstDash val="solid"/>
          </a:ln>
        </p:spPr>
      </p:sp>
      <p:pic>
        <p:nvPicPr>
          <p:cNvPr id="2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97605" y="3561209"/>
            <a:ext cx="206667" cy="2066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28935"/>
            <a:ext cx="10868745" cy="461863"/>
          </a:xfrm>
          <a:prstGeom prst="rect">
            <a:avLst/>
          </a:prstGeom>
          <a:noFill/>
          <a:ln/>
        </p:spPr>
        <p:txBody>
          <a:bodyPr wrap="none" lIns="0" tIns="0" rIns="0" bIns="0" rtlCol="0" anchor="t"/>
          <a:lstStyle/>
          <a:p>
            <a:pPr algn="l" indent="0" marL="0">
              <a:lnSpc>
                <a:spcPct val="108000"/>
              </a:lnSpc>
              <a:buNone/>
            </a:pPr>
            <a:r>
              <a:rPr lang="en-US" sz="2750" b="1" spc="-56" kern="0" dirty="0">
                <a:solidFill>
                  <a:srgbClr val="F2F5FA"/>
                </a:solidFill>
                <a:latin typeface="Geist Bold" pitchFamily="34" charset="0"/>
                <a:ea typeface="Geist Bold" pitchFamily="34" charset="-122"/>
                <a:cs typeface="Geist Bold" pitchFamily="34" charset="-120"/>
              </a:rPr>
              <a:t>Training &amp; Evaluation Pipeline</a:t>
            </a:r>
            <a:endParaRPr lang="en-US" sz="2750" dirty="0"/>
          </a:p>
        </p:txBody>
      </p:sp>
      <p:sp>
        <p:nvSpPr>
          <p:cNvPr id="3" name="Text 1"/>
          <p:cNvSpPr/>
          <p:nvPr/>
        </p:nvSpPr>
        <p:spPr>
          <a:xfrm>
            <a:off x="661475" y="1235075"/>
            <a:ext cx="11478330" cy="171748"/>
          </a:xfrm>
          <a:prstGeom prst="rect">
            <a:avLst/>
          </a:prstGeom>
          <a:noFill/>
          <a:ln/>
        </p:spPr>
        <p:txBody>
          <a:bodyPr wrap="none" lIns="0" tIns="0" rIns="0" bIns="0" rtlCol="0" anchor="t"/>
          <a:lstStyle/>
          <a:p>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A rigorous end-to-end workflow designed to prevent data leakage, ensure generalization, and produce evaluation results that reflect true out-of-sample performance.</a:t>
            </a:r>
            <a:endParaRPr lang="en-US" sz="1100" dirty="0"/>
          </a:p>
        </p:txBody>
      </p:sp>
      <p:sp>
        <p:nvSpPr>
          <p:cNvPr id="4" name="Shape 2"/>
          <p:cNvSpPr/>
          <p:nvPr/>
        </p:nvSpPr>
        <p:spPr>
          <a:xfrm>
            <a:off x="661475" y="1681460"/>
            <a:ext cx="319774" cy="319782"/>
          </a:xfrm>
          <a:prstGeom prst="roundRect">
            <a:avLst>
              <a:gd name="adj" fmla="val 18668"/>
            </a:avLst>
          </a:prstGeom>
          <a:solidFill>
            <a:srgbClr val="101620"/>
          </a:solidFill>
          <a:ln w="12700">
            <a:solidFill>
              <a:srgbClr val="002A80"/>
            </a:solidFill>
            <a:prstDash val="solid"/>
          </a:ln>
        </p:spPr>
      </p:sp>
      <p:sp>
        <p:nvSpPr>
          <p:cNvPr id="5" name="Text 3"/>
          <p:cNvSpPr/>
          <p:nvPr/>
        </p:nvSpPr>
        <p:spPr>
          <a:xfrm>
            <a:off x="714754" y="1702743"/>
            <a:ext cx="213117" cy="277118"/>
          </a:xfrm>
          <a:prstGeom prst="rect">
            <a:avLst/>
          </a:prstGeom>
          <a:noFill/>
          <a:ln/>
        </p:spPr>
        <p:txBody>
          <a:bodyPr wrap="none" lIns="0" tIns="0" rIns="0" bIns="0" rtlCol="0" anchor="ctr"/>
          <a:lstStyle/>
          <a:p>
            <a:pPr algn="ctr" indent="0" marL="0">
              <a:lnSpc>
                <a:spcPct val="100000"/>
              </a:lnSpc>
              <a:buNone/>
            </a:pPr>
            <a:r>
              <a:rPr lang="en-US" sz="1650" b="1" spc="-34" kern="0" dirty="0">
                <a:solidFill>
                  <a:srgbClr val="EBEDF0"/>
                </a:solidFill>
                <a:latin typeface="Geist Bold" pitchFamily="34" charset="0"/>
                <a:ea typeface="Geist Bold" pitchFamily="34" charset="-122"/>
                <a:cs typeface="Geist Bold" pitchFamily="34" charset="-120"/>
              </a:rPr>
              <a:t>1</a:t>
            </a:r>
            <a:endParaRPr lang="en-US" sz="1650" dirty="0"/>
          </a:p>
        </p:txBody>
      </p:sp>
      <p:sp>
        <p:nvSpPr>
          <p:cNvPr id="6" name="Text 4"/>
          <p:cNvSpPr/>
          <p:nvPr/>
        </p:nvSpPr>
        <p:spPr>
          <a:xfrm>
            <a:off x="1103384" y="1725811"/>
            <a:ext cx="5379903" cy="230981"/>
          </a:xfrm>
          <a:prstGeom prst="rect">
            <a:avLst/>
          </a:prstGeom>
          <a:noFill/>
          <a:ln/>
        </p:spPr>
        <p:txBody>
          <a:bodyPr wrap="none" lIns="0" tIns="0" rIns="0" bIns="0" rtlCol="0" anchor="t"/>
          <a:lstStyle/>
          <a:p>
            <a:pPr algn="l" indent="0" marL="0">
              <a:lnSpc>
                <a:spcPct val="108000"/>
              </a:lnSpc>
              <a:buNone/>
            </a:pPr>
            <a:r>
              <a:rPr lang="en-US" sz="1350" b="1" spc="-28" kern="0" dirty="0">
                <a:solidFill>
                  <a:srgbClr val="EBEDF0"/>
                </a:solidFill>
                <a:latin typeface="Geist Bold" pitchFamily="34" charset="0"/>
                <a:ea typeface="Geist Bold" pitchFamily="34" charset="-122"/>
                <a:cs typeface="Geist Bold" pitchFamily="34" charset="-120"/>
              </a:rPr>
              <a:t>Stratified Train/Test Split</a:t>
            </a:r>
            <a:endParaRPr lang="en-US" sz="1350" dirty="0"/>
          </a:p>
        </p:txBody>
      </p:sp>
      <p:sp>
        <p:nvSpPr>
          <p:cNvPr id="7" name="Text 5"/>
          <p:cNvSpPr/>
          <p:nvPr/>
        </p:nvSpPr>
        <p:spPr>
          <a:xfrm>
            <a:off x="1103384" y="2078930"/>
            <a:ext cx="5379903" cy="343495"/>
          </a:xfrm>
          <a:prstGeom prst="rect">
            <a:avLst/>
          </a:prstGeom>
          <a:noFill/>
          <a:ln/>
        </p:spPr>
        <p:txBody>
          <a:bodyPr wrap="square" lIns="0" tIns="0" rIns="0" bIns="0" rtlCol="0" anchor="t">
            <a:normAutofit/>
          </a:bodyPr>
          <a:lstStyle/>
          <a:p>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Split preserves the churn class ratio in both partitions — ensuring neither set is accidentally over- or under-represented by churners.</a:t>
            </a:r>
            <a:endParaRPr lang="en-US" sz="1100" dirty="0"/>
          </a:p>
        </p:txBody>
      </p:sp>
      <p:sp>
        <p:nvSpPr>
          <p:cNvPr id="8" name="Shape 6"/>
          <p:cNvSpPr/>
          <p:nvPr/>
        </p:nvSpPr>
        <p:spPr>
          <a:xfrm>
            <a:off x="661475" y="2666702"/>
            <a:ext cx="319774" cy="319782"/>
          </a:xfrm>
          <a:prstGeom prst="roundRect">
            <a:avLst>
              <a:gd name="adj" fmla="val 18668"/>
            </a:avLst>
          </a:prstGeom>
          <a:solidFill>
            <a:srgbClr val="101620"/>
          </a:solidFill>
          <a:ln w="12700">
            <a:solidFill>
              <a:srgbClr val="002A80"/>
            </a:solidFill>
            <a:prstDash val="solid"/>
          </a:ln>
        </p:spPr>
      </p:sp>
      <p:sp>
        <p:nvSpPr>
          <p:cNvPr id="9" name="Text 7"/>
          <p:cNvSpPr/>
          <p:nvPr/>
        </p:nvSpPr>
        <p:spPr>
          <a:xfrm>
            <a:off x="714754" y="2687985"/>
            <a:ext cx="213117" cy="277118"/>
          </a:xfrm>
          <a:prstGeom prst="rect">
            <a:avLst/>
          </a:prstGeom>
          <a:noFill/>
          <a:ln/>
        </p:spPr>
        <p:txBody>
          <a:bodyPr wrap="none" lIns="0" tIns="0" rIns="0" bIns="0" rtlCol="0" anchor="ctr"/>
          <a:lstStyle/>
          <a:p>
            <a:pPr algn="ctr" indent="0" marL="0">
              <a:lnSpc>
                <a:spcPct val="100000"/>
              </a:lnSpc>
              <a:buNone/>
            </a:pPr>
            <a:r>
              <a:rPr lang="en-US" sz="1650" b="1" spc="-34" kern="0" dirty="0">
                <a:solidFill>
                  <a:srgbClr val="EBEDF0"/>
                </a:solidFill>
                <a:latin typeface="Geist Bold" pitchFamily="34" charset="0"/>
                <a:ea typeface="Geist Bold" pitchFamily="34" charset="-122"/>
                <a:cs typeface="Geist Bold" pitchFamily="34" charset="-120"/>
              </a:rPr>
              <a:t>2</a:t>
            </a:r>
            <a:endParaRPr lang="en-US" sz="1650" dirty="0"/>
          </a:p>
        </p:txBody>
      </p:sp>
      <p:sp>
        <p:nvSpPr>
          <p:cNvPr id="10" name="Text 8"/>
          <p:cNvSpPr/>
          <p:nvPr/>
        </p:nvSpPr>
        <p:spPr>
          <a:xfrm>
            <a:off x="1103384" y="2711053"/>
            <a:ext cx="5379903" cy="230981"/>
          </a:xfrm>
          <a:prstGeom prst="rect">
            <a:avLst/>
          </a:prstGeom>
          <a:noFill/>
          <a:ln/>
        </p:spPr>
        <p:txBody>
          <a:bodyPr wrap="none" lIns="0" tIns="0" rIns="0" bIns="0" rtlCol="0" anchor="t"/>
          <a:lstStyle/>
          <a:p>
            <a:pPr algn="l" indent="0" marL="0">
              <a:lnSpc>
                <a:spcPct val="108000"/>
              </a:lnSpc>
              <a:buNone/>
            </a:pPr>
            <a:r>
              <a:rPr lang="en-US" sz="1350" b="1" spc="-28" kern="0" dirty="0">
                <a:solidFill>
                  <a:srgbClr val="EBEDF0"/>
                </a:solidFill>
                <a:latin typeface="Geist Bold" pitchFamily="34" charset="0"/>
                <a:ea typeface="Geist Bold" pitchFamily="34" charset="-122"/>
                <a:cs typeface="Geist Bold" pitchFamily="34" charset="-120"/>
              </a:rPr>
              <a:t>Preprocessing Pipeline (Train Only)</a:t>
            </a:r>
            <a:endParaRPr lang="en-US" sz="1350" dirty="0"/>
          </a:p>
        </p:txBody>
      </p:sp>
      <p:sp>
        <p:nvSpPr>
          <p:cNvPr id="11" name="Text 9"/>
          <p:cNvSpPr/>
          <p:nvPr/>
        </p:nvSpPr>
        <p:spPr>
          <a:xfrm>
            <a:off x="1103384" y="3064173"/>
            <a:ext cx="5379903" cy="343495"/>
          </a:xfrm>
          <a:prstGeom prst="rect">
            <a:avLst/>
          </a:prstGeom>
          <a:noFill/>
          <a:ln/>
        </p:spPr>
        <p:txBody>
          <a:bodyPr wrap="square" lIns="0" tIns="0" rIns="0" bIns="0" rtlCol="0" anchor="t">
            <a:normAutofit/>
          </a:bodyPr>
          <a:lstStyle/>
          <a:p>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Numerical: Imputation → Scaling. Categorical: Encoding. All transformers fitted exclusively on training data — test set is transformed, never fitted.</a:t>
            </a:r>
            <a:endParaRPr lang="en-US" sz="1100" dirty="0"/>
          </a:p>
        </p:txBody>
      </p:sp>
      <p:sp>
        <p:nvSpPr>
          <p:cNvPr id="12" name="Shape 10"/>
          <p:cNvSpPr/>
          <p:nvPr/>
        </p:nvSpPr>
        <p:spPr>
          <a:xfrm>
            <a:off x="661475" y="3651945"/>
            <a:ext cx="319774" cy="319782"/>
          </a:xfrm>
          <a:prstGeom prst="roundRect">
            <a:avLst>
              <a:gd name="adj" fmla="val 18668"/>
            </a:avLst>
          </a:prstGeom>
          <a:solidFill>
            <a:srgbClr val="101620"/>
          </a:solidFill>
          <a:ln w="12700">
            <a:solidFill>
              <a:srgbClr val="002A80"/>
            </a:solidFill>
            <a:prstDash val="solid"/>
          </a:ln>
        </p:spPr>
      </p:sp>
      <p:sp>
        <p:nvSpPr>
          <p:cNvPr id="13" name="Text 11"/>
          <p:cNvSpPr/>
          <p:nvPr/>
        </p:nvSpPr>
        <p:spPr>
          <a:xfrm>
            <a:off x="714754" y="3673227"/>
            <a:ext cx="213117" cy="277118"/>
          </a:xfrm>
          <a:prstGeom prst="rect">
            <a:avLst/>
          </a:prstGeom>
          <a:noFill/>
          <a:ln/>
        </p:spPr>
        <p:txBody>
          <a:bodyPr wrap="none" lIns="0" tIns="0" rIns="0" bIns="0" rtlCol="0" anchor="ctr"/>
          <a:lstStyle/>
          <a:p>
            <a:pPr algn="ctr" indent="0" marL="0">
              <a:lnSpc>
                <a:spcPct val="100000"/>
              </a:lnSpc>
              <a:buNone/>
            </a:pPr>
            <a:r>
              <a:rPr lang="en-US" sz="1650" b="1" spc="-34" kern="0" dirty="0">
                <a:solidFill>
                  <a:srgbClr val="EBEDF0"/>
                </a:solidFill>
                <a:latin typeface="Geist Bold" pitchFamily="34" charset="0"/>
                <a:ea typeface="Geist Bold" pitchFamily="34" charset="-122"/>
                <a:cs typeface="Geist Bold" pitchFamily="34" charset="-120"/>
              </a:rPr>
              <a:t>3</a:t>
            </a:r>
            <a:endParaRPr lang="en-US" sz="1650" dirty="0"/>
          </a:p>
        </p:txBody>
      </p:sp>
      <p:sp>
        <p:nvSpPr>
          <p:cNvPr id="14" name="Text 12"/>
          <p:cNvSpPr/>
          <p:nvPr/>
        </p:nvSpPr>
        <p:spPr>
          <a:xfrm>
            <a:off x="1103384" y="3696295"/>
            <a:ext cx="5379903" cy="230981"/>
          </a:xfrm>
          <a:prstGeom prst="rect">
            <a:avLst/>
          </a:prstGeom>
          <a:noFill/>
          <a:ln/>
        </p:spPr>
        <p:txBody>
          <a:bodyPr wrap="none" lIns="0" tIns="0" rIns="0" bIns="0" rtlCol="0" anchor="t"/>
          <a:lstStyle/>
          <a:p>
            <a:pPr algn="l" indent="0" marL="0">
              <a:lnSpc>
                <a:spcPct val="108000"/>
              </a:lnSpc>
              <a:buNone/>
            </a:pPr>
            <a:r>
              <a:rPr lang="en-US" sz="1350" b="1" spc="-28" kern="0" dirty="0">
                <a:solidFill>
                  <a:srgbClr val="EBEDF0"/>
                </a:solidFill>
                <a:latin typeface="Geist Bold" pitchFamily="34" charset="0"/>
                <a:ea typeface="Geist Bold" pitchFamily="34" charset="-122"/>
                <a:cs typeface="Geist Bold" pitchFamily="34" charset="-120"/>
              </a:rPr>
              <a:t>K-Fold Cross-Validation</a:t>
            </a:r>
            <a:endParaRPr lang="en-US" sz="1350" dirty="0"/>
          </a:p>
        </p:txBody>
      </p:sp>
      <p:sp>
        <p:nvSpPr>
          <p:cNvPr id="15" name="Text 13"/>
          <p:cNvSpPr/>
          <p:nvPr/>
        </p:nvSpPr>
        <p:spPr>
          <a:xfrm>
            <a:off x="1103384" y="4049415"/>
            <a:ext cx="5379903" cy="343495"/>
          </a:xfrm>
          <a:prstGeom prst="rect">
            <a:avLst/>
          </a:prstGeom>
          <a:noFill/>
          <a:ln/>
        </p:spPr>
        <p:txBody>
          <a:bodyPr wrap="square" lIns="0" tIns="0" rIns="0" bIns="0" rtlCol="0" anchor="t">
            <a:normAutofit/>
          </a:bodyPr>
          <a:lstStyle/>
          <a:p>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Assesses model stability across multiple training folds. Flags overfitting before final evaluation.</a:t>
            </a:r>
            <a:endParaRPr lang="en-US" sz="1100" dirty="0"/>
          </a:p>
        </p:txBody>
      </p:sp>
      <p:sp>
        <p:nvSpPr>
          <p:cNvPr id="16" name="Shape 14"/>
          <p:cNvSpPr/>
          <p:nvPr/>
        </p:nvSpPr>
        <p:spPr>
          <a:xfrm>
            <a:off x="661475" y="4637187"/>
            <a:ext cx="319774" cy="319782"/>
          </a:xfrm>
          <a:prstGeom prst="roundRect">
            <a:avLst>
              <a:gd name="adj" fmla="val 18668"/>
            </a:avLst>
          </a:prstGeom>
          <a:solidFill>
            <a:srgbClr val="101620"/>
          </a:solidFill>
          <a:ln w="12700">
            <a:solidFill>
              <a:srgbClr val="002A80"/>
            </a:solidFill>
            <a:prstDash val="solid"/>
          </a:ln>
        </p:spPr>
      </p:sp>
      <p:sp>
        <p:nvSpPr>
          <p:cNvPr id="17" name="Text 15"/>
          <p:cNvSpPr/>
          <p:nvPr/>
        </p:nvSpPr>
        <p:spPr>
          <a:xfrm>
            <a:off x="714754" y="4658469"/>
            <a:ext cx="213117" cy="277118"/>
          </a:xfrm>
          <a:prstGeom prst="rect">
            <a:avLst/>
          </a:prstGeom>
          <a:noFill/>
          <a:ln/>
        </p:spPr>
        <p:txBody>
          <a:bodyPr wrap="none" lIns="0" tIns="0" rIns="0" bIns="0" rtlCol="0" anchor="ctr"/>
          <a:lstStyle/>
          <a:p>
            <a:pPr algn="ctr" indent="0" marL="0">
              <a:lnSpc>
                <a:spcPct val="100000"/>
              </a:lnSpc>
              <a:buNone/>
            </a:pPr>
            <a:r>
              <a:rPr lang="en-US" sz="1650" b="1" spc="-34" kern="0" dirty="0">
                <a:solidFill>
                  <a:srgbClr val="EBEDF0"/>
                </a:solidFill>
                <a:latin typeface="Geist Bold" pitchFamily="34" charset="0"/>
                <a:ea typeface="Geist Bold" pitchFamily="34" charset="-122"/>
                <a:cs typeface="Geist Bold" pitchFamily="34" charset="-120"/>
              </a:rPr>
              <a:t>4</a:t>
            </a:r>
            <a:endParaRPr lang="en-US" sz="1650" dirty="0"/>
          </a:p>
        </p:txBody>
      </p:sp>
      <p:sp>
        <p:nvSpPr>
          <p:cNvPr id="18" name="Text 16"/>
          <p:cNvSpPr/>
          <p:nvPr/>
        </p:nvSpPr>
        <p:spPr>
          <a:xfrm>
            <a:off x="1103384" y="4681538"/>
            <a:ext cx="5379903" cy="230981"/>
          </a:xfrm>
          <a:prstGeom prst="rect">
            <a:avLst/>
          </a:prstGeom>
          <a:noFill/>
          <a:ln/>
        </p:spPr>
        <p:txBody>
          <a:bodyPr wrap="none" lIns="0" tIns="0" rIns="0" bIns="0" rtlCol="0" anchor="t"/>
          <a:lstStyle/>
          <a:p>
            <a:pPr algn="l" indent="0" marL="0">
              <a:lnSpc>
                <a:spcPct val="108000"/>
              </a:lnSpc>
              <a:buNone/>
            </a:pPr>
            <a:r>
              <a:rPr lang="en-US" sz="1350" b="1" spc="-28" kern="0" dirty="0">
                <a:solidFill>
                  <a:srgbClr val="EBEDF0"/>
                </a:solidFill>
                <a:latin typeface="Geist Bold" pitchFamily="34" charset="0"/>
                <a:ea typeface="Geist Bold" pitchFamily="34" charset="-122"/>
                <a:cs typeface="Geist Bold" pitchFamily="34" charset="-120"/>
              </a:rPr>
              <a:t>Hyperparameter Tuning</a:t>
            </a:r>
            <a:endParaRPr lang="en-US" sz="1350" dirty="0"/>
          </a:p>
        </p:txBody>
      </p:sp>
      <p:sp>
        <p:nvSpPr>
          <p:cNvPr id="19" name="Text 17"/>
          <p:cNvSpPr/>
          <p:nvPr/>
        </p:nvSpPr>
        <p:spPr>
          <a:xfrm>
            <a:off x="1103384" y="5034657"/>
            <a:ext cx="5379903" cy="343495"/>
          </a:xfrm>
          <a:prstGeom prst="rect">
            <a:avLst/>
          </a:prstGeom>
          <a:noFill/>
          <a:ln/>
        </p:spPr>
        <p:txBody>
          <a:bodyPr wrap="square" lIns="0" tIns="0" rIns="0" bIns="0" rtlCol="0" anchor="t">
            <a:normAutofit/>
          </a:bodyPr>
          <a:lstStyle/>
          <a:p>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GridSearchCV applied within training set only. No test data is touched during tuning.</a:t>
            </a:r>
            <a:endParaRPr lang="en-US" sz="1100" dirty="0"/>
          </a:p>
        </p:txBody>
      </p:sp>
      <p:sp>
        <p:nvSpPr>
          <p:cNvPr id="20" name="Shape 18"/>
          <p:cNvSpPr/>
          <p:nvPr/>
        </p:nvSpPr>
        <p:spPr>
          <a:xfrm>
            <a:off x="661475" y="5622429"/>
            <a:ext cx="319774" cy="319782"/>
          </a:xfrm>
          <a:prstGeom prst="roundRect">
            <a:avLst>
              <a:gd name="adj" fmla="val 18668"/>
            </a:avLst>
          </a:prstGeom>
          <a:solidFill>
            <a:srgbClr val="101620"/>
          </a:solidFill>
          <a:ln w="12700">
            <a:solidFill>
              <a:srgbClr val="002A80"/>
            </a:solidFill>
            <a:prstDash val="solid"/>
          </a:ln>
        </p:spPr>
      </p:sp>
      <p:sp>
        <p:nvSpPr>
          <p:cNvPr id="21" name="Text 19"/>
          <p:cNvSpPr/>
          <p:nvPr/>
        </p:nvSpPr>
        <p:spPr>
          <a:xfrm>
            <a:off x="714754" y="5643711"/>
            <a:ext cx="213117" cy="277118"/>
          </a:xfrm>
          <a:prstGeom prst="rect">
            <a:avLst/>
          </a:prstGeom>
          <a:noFill/>
          <a:ln/>
        </p:spPr>
        <p:txBody>
          <a:bodyPr wrap="none" lIns="0" tIns="0" rIns="0" bIns="0" rtlCol="0" anchor="ctr"/>
          <a:lstStyle/>
          <a:p>
            <a:pPr algn="ctr" indent="0" marL="0">
              <a:lnSpc>
                <a:spcPct val="100000"/>
              </a:lnSpc>
              <a:buNone/>
            </a:pPr>
            <a:r>
              <a:rPr lang="en-US" sz="1650" b="1" spc="-34" kern="0" dirty="0">
                <a:solidFill>
                  <a:srgbClr val="EBEDF0"/>
                </a:solidFill>
                <a:latin typeface="Geist Bold" pitchFamily="34" charset="0"/>
                <a:ea typeface="Geist Bold" pitchFamily="34" charset="-122"/>
                <a:cs typeface="Geist Bold" pitchFamily="34" charset="-120"/>
              </a:rPr>
              <a:t>5</a:t>
            </a:r>
            <a:endParaRPr lang="en-US" sz="1650" dirty="0"/>
          </a:p>
        </p:txBody>
      </p:sp>
      <p:sp>
        <p:nvSpPr>
          <p:cNvPr id="22" name="Text 20"/>
          <p:cNvSpPr/>
          <p:nvPr/>
        </p:nvSpPr>
        <p:spPr>
          <a:xfrm>
            <a:off x="1103384" y="5666780"/>
            <a:ext cx="5379903" cy="230981"/>
          </a:xfrm>
          <a:prstGeom prst="rect">
            <a:avLst/>
          </a:prstGeom>
          <a:noFill/>
          <a:ln/>
        </p:spPr>
        <p:txBody>
          <a:bodyPr wrap="none" lIns="0" tIns="0" rIns="0" bIns="0" rtlCol="0" anchor="t"/>
          <a:lstStyle/>
          <a:p>
            <a:pPr algn="l" indent="0" marL="0">
              <a:lnSpc>
                <a:spcPct val="108000"/>
              </a:lnSpc>
              <a:buNone/>
            </a:pPr>
            <a:r>
              <a:rPr lang="en-US" sz="1350" b="1" spc="-28" kern="0" dirty="0">
                <a:solidFill>
                  <a:srgbClr val="EBEDF0"/>
                </a:solidFill>
                <a:latin typeface="Geist Bold" pitchFamily="34" charset="0"/>
                <a:ea typeface="Geist Bold" pitchFamily="34" charset="-122"/>
                <a:cs typeface="Geist Bold" pitchFamily="34" charset="-120"/>
              </a:rPr>
              <a:t>Final Evaluation on Held-Out Test Set</a:t>
            </a:r>
            <a:endParaRPr lang="en-US" sz="1350" dirty="0"/>
          </a:p>
        </p:txBody>
      </p:sp>
      <p:sp>
        <p:nvSpPr>
          <p:cNvPr id="23" name="Text 21"/>
          <p:cNvSpPr/>
          <p:nvPr/>
        </p:nvSpPr>
        <p:spPr>
          <a:xfrm>
            <a:off x="1103384" y="6019899"/>
            <a:ext cx="5379903" cy="171748"/>
          </a:xfrm>
          <a:prstGeom prst="rect">
            <a:avLst/>
          </a:prstGeom>
          <a:noFill/>
          <a:ln/>
        </p:spPr>
        <p:txBody>
          <a:bodyPr wrap="none" lIns="0" tIns="0" rIns="0" bIns="0" rtlCol="0" anchor="t"/>
          <a:lstStyle/>
          <a:p>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All reported metrics computed once on the test set after all decisions are finalized.</a:t>
            </a:r>
            <a:endParaRPr lang="en-US" sz="1100" dirty="0"/>
          </a:p>
        </p:txBody>
      </p:sp>
      <p:sp>
        <p:nvSpPr>
          <p:cNvPr id="24" name="Shape 22"/>
          <p:cNvSpPr/>
          <p:nvPr/>
        </p:nvSpPr>
        <p:spPr>
          <a:xfrm>
            <a:off x="6734007" y="1544141"/>
            <a:ext cx="4904855" cy="4784824"/>
          </a:xfrm>
          <a:prstGeom prst="roundRect">
            <a:avLst>
              <a:gd name="adj" fmla="val 2139"/>
            </a:avLst>
          </a:prstGeom>
          <a:solidFill>
            <a:srgbClr val="1E3A8A">
              <a:alpha val="95000"/>
            </a:srgbClr>
          </a:solidFill>
          <a:ln/>
        </p:spPr>
      </p:sp>
      <p:sp>
        <p:nvSpPr>
          <p:cNvPr id="25" name="Text 23"/>
          <p:cNvSpPr/>
          <p:nvPr/>
        </p:nvSpPr>
        <p:spPr>
          <a:xfrm>
            <a:off x="6876084" y="1666280"/>
            <a:ext cx="4620700" cy="230981"/>
          </a:xfrm>
          <a:prstGeom prst="rect">
            <a:avLst/>
          </a:prstGeom>
          <a:noFill/>
          <a:ln/>
        </p:spPr>
        <p:txBody>
          <a:bodyPr wrap="none" lIns="0" tIns="0" rIns="0" bIns="0" rtlCol="0" anchor="t"/>
          <a:lstStyle/>
          <a:p>
            <a:pPr algn="l" indent="0" marL="0">
              <a:lnSpc>
                <a:spcPct val="108000"/>
              </a:lnSpc>
              <a:buNone/>
            </a:pPr>
            <a:r>
              <a:rPr lang="en-US" sz="1350" b="1" spc="-28" kern="0" dirty="0">
                <a:solidFill>
                  <a:srgbClr val="F2F5FA"/>
                </a:solidFill>
                <a:latin typeface="Geist Bold" pitchFamily="34" charset="0"/>
                <a:ea typeface="Geist Bold" pitchFamily="34" charset="-122"/>
                <a:cs typeface="Geist Bold" pitchFamily="34" charset="-120"/>
              </a:rPr>
              <a:t>Why This Matters</a:t>
            </a:r>
            <a:endParaRPr lang="en-US" sz="1350" dirty="0"/>
          </a:p>
        </p:txBody>
      </p:sp>
      <p:sp>
        <p:nvSpPr>
          <p:cNvPr id="26" name="Text 24"/>
          <p:cNvSpPr/>
          <p:nvPr/>
        </p:nvSpPr>
        <p:spPr>
          <a:xfrm>
            <a:off x="6876084" y="2019399"/>
            <a:ext cx="4620700" cy="686991"/>
          </a:xfrm>
          <a:prstGeom prst="rect">
            <a:avLst/>
          </a:prstGeom>
          <a:noFill/>
          <a:ln/>
        </p:spPr>
        <p:txBody>
          <a:bodyPr wrap="square" lIns="0" tIns="0" rIns="0" bIns="0" rtlCol="0" anchor="t">
            <a:normAutofit/>
          </a:bodyPr>
          <a:lstStyle/>
          <a:p>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Leakage is the most common reason ML models fail to replicate lab performance in production. Every guardrail in this pipeline exists to ensure reported metrics reflect what the model will actually achieve on unseen customers.</a:t>
            </a:r>
            <a:endParaRPr lang="en-US" sz="1100" dirty="0"/>
          </a:p>
        </p:txBody>
      </p:sp>
      <p:sp>
        <p:nvSpPr>
          <p:cNvPr id="27" name="Shape 25"/>
          <p:cNvSpPr/>
          <p:nvPr/>
        </p:nvSpPr>
        <p:spPr>
          <a:xfrm>
            <a:off x="6876084" y="2879229"/>
            <a:ext cx="4620700" cy="19050"/>
          </a:xfrm>
          <a:prstGeom prst="roundRect">
            <a:avLst>
              <a:gd name="adj" fmla="val 49999"/>
            </a:avLst>
          </a:prstGeom>
          <a:solidFill>
            <a:srgbClr val="EBEDF0">
              <a:alpha val="50000"/>
            </a:srgbClr>
          </a:solidFill>
          <a:ln/>
        </p:spPr>
      </p:sp>
      <p:sp>
        <p:nvSpPr>
          <p:cNvPr id="28" name="Text 26"/>
          <p:cNvSpPr/>
          <p:nvPr/>
        </p:nvSpPr>
        <p:spPr>
          <a:xfrm>
            <a:off x="6876084" y="3071118"/>
            <a:ext cx="4620700" cy="230981"/>
          </a:xfrm>
          <a:prstGeom prst="rect">
            <a:avLst/>
          </a:prstGeom>
          <a:noFill/>
          <a:ln/>
        </p:spPr>
        <p:txBody>
          <a:bodyPr wrap="none" lIns="0" tIns="0" rIns="0" bIns="0" rtlCol="0" anchor="t"/>
          <a:lstStyle/>
          <a:p>
            <a:pPr algn="l" indent="0" marL="0">
              <a:lnSpc>
                <a:spcPct val="108000"/>
              </a:lnSpc>
              <a:buNone/>
            </a:pPr>
            <a:r>
              <a:rPr lang="en-US" sz="1350" b="1" spc="-28" kern="0" dirty="0">
                <a:solidFill>
                  <a:srgbClr val="F2F5FA"/>
                </a:solidFill>
                <a:latin typeface="Geist Bold" pitchFamily="34" charset="0"/>
                <a:ea typeface="Geist Bold" pitchFamily="34" charset="-122"/>
                <a:cs typeface="Geist Bold" pitchFamily="34" charset="-120"/>
              </a:rPr>
              <a:t>Pipeline Enforcement</a:t>
            </a:r>
            <a:endParaRPr lang="en-US" sz="1350" dirty="0"/>
          </a:p>
        </p:txBody>
      </p:sp>
      <p:sp>
        <p:nvSpPr>
          <p:cNvPr id="29" name="Text 27"/>
          <p:cNvSpPr/>
          <p:nvPr/>
        </p:nvSpPr>
        <p:spPr>
          <a:xfrm>
            <a:off x="6876084" y="3424238"/>
            <a:ext cx="4620700" cy="521593"/>
          </a:xfrm>
          <a:prstGeom prst="rect">
            <a:avLst/>
          </a:prstGeom>
          <a:noFill/>
          <a:ln/>
        </p:spPr>
        <p:txBody>
          <a:bodyPr wrap="square" lIns="0" tIns="0" rIns="0" bIns="0" rtlCol="0" anchor="t">
            <a:normAutofit/>
          </a:bodyPr>
          <a:lstStyle/>
          <a:p>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All preprocessing steps are wrapped inside </a:t>
            </a:r>
            <a:pPr algn="l" indent="0" marL="0">
              <a:lnSpc>
                <a:spcPct val="101000"/>
              </a:lnSpc>
              <a:buNone/>
            </a:pPr>
            <a:r>
              <a:rPr lang="en-US" sz="1100" dirty="0">
                <a:solidFill>
                  <a:srgbClr val="EBEDF0"/>
                </a:solidFill>
                <a:highlight>
                  <a:srgbClr val="2B4797"/>
                </a:highlight>
                <a:latin typeface="Consolas" pitchFamily="34" charset="0"/>
                <a:ea typeface="Consolas" pitchFamily="34" charset="-122"/>
                <a:cs typeface="Consolas" pitchFamily="34" charset="-120"/>
              </a:rPr>
              <a:t>sklearn.Pipeline</a:t>
            </a:r>
            <a:pPr algn="l" indent="0" marL="0">
              <a:lnSpc>
                <a:spcPct val="101000"/>
              </a:lnSpc>
              <a:buNone/>
            </a:pPr>
            <a:r>
              <a:rPr lang="en-US" sz="1100" dirty="0">
                <a:solidFill>
                  <a:srgbClr val="EBEDF0"/>
                </a:solidFill>
                <a:latin typeface="Geist" pitchFamily="34" charset="0"/>
                <a:ea typeface="Geist" pitchFamily="34" charset="-122"/>
                <a:cs typeface="Geist" pitchFamily="34" charset="-120"/>
              </a:rPr>
              <a:t> objects. This makes leakage-free execution automatic — not a manual discipline.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60189"/>
            <a:ext cx="10868745" cy="436662"/>
          </a:xfrm>
          <a:prstGeom prst="rect">
            <a:avLst/>
          </a:prstGeom>
          <a:noFill/>
          <a:ln/>
        </p:spPr>
        <p:txBody>
          <a:bodyPr wrap="none" lIns="0" tIns="0" rIns="0" bIns="0" rtlCol="0" anchor="t"/>
          <a:lstStyle/>
          <a:p>
            <a:pPr algn="l" indent="0" marL="0">
              <a:lnSpc>
                <a:spcPct val="108000"/>
              </a:lnSpc>
              <a:buNone/>
            </a:pPr>
            <a:r>
              <a:rPr lang="en-US" sz="2600" b="1" spc="-53" kern="0" dirty="0">
                <a:solidFill>
                  <a:srgbClr val="F2F5FA"/>
                </a:solidFill>
                <a:latin typeface="Geist Bold" pitchFamily="34" charset="0"/>
                <a:ea typeface="Geist Bold" pitchFamily="34" charset="-122"/>
                <a:cs typeface="Geist Bold" pitchFamily="34" charset="-120"/>
              </a:rPr>
              <a:t>Evaluation Strategy</a:t>
            </a:r>
            <a:endParaRPr lang="en-US" sz="2600" dirty="0"/>
          </a:p>
        </p:txBody>
      </p:sp>
      <p:sp>
        <p:nvSpPr>
          <p:cNvPr id="3" name="Text 1"/>
          <p:cNvSpPr/>
          <p:nvPr/>
        </p:nvSpPr>
        <p:spPr>
          <a:xfrm>
            <a:off x="661475" y="1215132"/>
            <a:ext cx="11478330" cy="158254"/>
          </a:xfrm>
          <a:prstGeom prst="rect">
            <a:avLst/>
          </a:prstGeom>
          <a:noFill/>
          <a:ln/>
        </p:spPr>
        <p:txBody>
          <a:bodyPr wrap="none" lIns="0" tIns="0" rIns="0" bIns="0" rtlCol="0" anchor="t"/>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Accuracy alone is insufficient for churn prediction. Business context — the cost of missed churners vs. wasted retention spend — drives metric selection and threshold decisions.</a:t>
            </a:r>
            <a:endParaRPr lang="en-US" sz="1050" dirty="0"/>
          </a:p>
        </p:txBody>
      </p:sp>
      <p:sp>
        <p:nvSpPr>
          <p:cNvPr id="4" name="Text 2"/>
          <p:cNvSpPr/>
          <p:nvPr/>
        </p:nvSpPr>
        <p:spPr>
          <a:xfrm>
            <a:off x="661475" y="1605359"/>
            <a:ext cx="5270467"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F2F5FA"/>
                </a:solidFill>
                <a:latin typeface="Geist Bold" pitchFamily="34" charset="0"/>
                <a:ea typeface="Geist Bold" pitchFamily="34" charset="-122"/>
                <a:cs typeface="Geist Bold" pitchFamily="34" charset="-120"/>
              </a:rPr>
              <a:t>Primary Metric</a:t>
            </a:r>
            <a:endParaRPr lang="en-US" sz="13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46473"/>
            <a:ext cx="5270467" cy="1267222"/>
          </a:xfrm>
          <a:prstGeom prst="rect">
            <a:avLst/>
          </a:prstGeom>
        </p:spPr>
      </p:pic>
      <p:sp>
        <p:nvSpPr>
          <p:cNvPr id="6" name="Text 3"/>
          <p:cNvSpPr/>
          <p:nvPr/>
        </p:nvSpPr>
        <p:spPr>
          <a:xfrm>
            <a:off x="891061" y="2099866"/>
            <a:ext cx="4887493"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ROC-AUC</a:t>
            </a:r>
            <a:endParaRPr lang="en-US" sz="1300" dirty="0"/>
          </a:p>
        </p:txBody>
      </p:sp>
      <p:sp>
        <p:nvSpPr>
          <p:cNvPr id="7" name="Text 4"/>
          <p:cNvSpPr/>
          <p:nvPr/>
        </p:nvSpPr>
        <p:spPr>
          <a:xfrm>
            <a:off x="891061" y="2427288"/>
            <a:ext cx="4887493" cy="633016"/>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Threshold-independent measure of the model's ability to discriminate churners from non-churners across all possible operating points. The single most informative summary of classification performance for imbalanced business problems.</a:t>
            </a:r>
            <a:endParaRPr lang="en-US" sz="1050" dirty="0"/>
          </a:p>
        </p:txBody>
      </p:sp>
      <p:sp>
        <p:nvSpPr>
          <p:cNvPr id="8" name="Text 5"/>
          <p:cNvSpPr/>
          <p:nvPr/>
        </p:nvSpPr>
        <p:spPr>
          <a:xfrm>
            <a:off x="661475" y="3336528"/>
            <a:ext cx="5270467"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F2F5FA"/>
                </a:solidFill>
                <a:latin typeface="Geist Bold" pitchFamily="34" charset="0"/>
                <a:ea typeface="Geist Bold" pitchFamily="34" charset="-122"/>
                <a:cs typeface="Geist Bold" pitchFamily="34" charset="-120"/>
              </a:rPr>
              <a:t>Supporting Metrics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1475" y="3677642"/>
          <a:ext cx="9143771" cy="914400"/>
        </p:xfrm>
        <a:graphic>
          <a:graphicData uri="http://schemas.openxmlformats.org/drawingml/2006/table">
            <a:tbl>
              <a:tblPr/>
              <a:tblGrid>
                <a:gridCol w="2635234"/>
                <a:gridCol w="2635234"/>
              </a:tblGrid>
              <a:tr h="305090">
                <a:tc>
                  <a:txBody>
                    <a:bodyPr/>
                    <a:lstStyle/>
                    <a:p>
                      <a:pPr algn="l" indent="0" marL="0">
                        <a:buNone/>
                      </a:pPr>
                      <a:r>
                        <a:rPr lang="en-US" sz="1050" b="1" dirty="0">
                          <a:solidFill>
                            <a:srgbClr val="EBEDF0"/>
                          </a:solidFill>
                          <a:latin typeface="Geist" pitchFamily="34" charset="0"/>
                          <a:ea typeface="Geist" pitchFamily="34" charset="-122"/>
                          <a:cs typeface="Geist" pitchFamily="34" charset="-120"/>
                        </a:rPr>
                        <a:t>Metric</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50" b="1" dirty="0">
                          <a:solidFill>
                            <a:srgbClr val="EBEDF0"/>
                          </a:solidFill>
                          <a:latin typeface="Geist" pitchFamily="34" charset="0"/>
                          <a:ea typeface="Geist" pitchFamily="34" charset="-122"/>
                          <a:cs typeface="Geist" pitchFamily="34" charset="-120"/>
                        </a:rPr>
                        <a:t>Business Question</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r>
              <a:tr h="624765">
                <a:tc>
                  <a:txBody>
                    <a:bodyPr/>
                    <a:lstStyle/>
                    <a:p>
                      <a:pPr algn="l" indent="0" marL="0">
                        <a:buNone/>
                      </a:pPr>
                      <a:r>
                        <a:rPr lang="en-US" sz="1050" b="1" dirty="0">
                          <a:solidFill>
                            <a:srgbClr val="EBEDF0"/>
                          </a:solidFill>
                          <a:latin typeface="Geist" pitchFamily="34" charset="0"/>
                          <a:ea typeface="Geist" pitchFamily="34" charset="-122"/>
                          <a:cs typeface="Geist" pitchFamily="34" charset="-120"/>
                        </a:rPr>
                        <a:t>Precision</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Of predicted churners, how many actually leave? Limits wasted retention resources.</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r>
              <a:tr h="624765">
                <a:tc>
                  <a:txBody>
                    <a:bodyPr/>
                    <a:lstStyle/>
                    <a:p>
                      <a:pPr algn="l" indent="0" marL="0">
                        <a:buNone/>
                      </a:pPr>
                      <a:r>
                        <a:rPr lang="en-US" sz="1050" b="1" dirty="0">
                          <a:solidFill>
                            <a:srgbClr val="EBEDF0"/>
                          </a:solidFill>
                          <a:latin typeface="Geist" pitchFamily="34" charset="0"/>
                          <a:ea typeface="Geist" pitchFamily="34" charset="-122"/>
                          <a:cs typeface="Geist" pitchFamily="34" charset="-120"/>
                        </a:rPr>
                        <a:t>Recall</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Of actual churners, how many do we catch? Minimizes missed intervention opportunities.</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r>
              <a:tr h="466515">
                <a:tc>
                  <a:txBody>
                    <a:bodyPr/>
                    <a:lstStyle/>
                    <a:p>
                      <a:pPr algn="l" indent="0" marL="0">
                        <a:buNone/>
                      </a:pPr>
                      <a:r>
                        <a:rPr lang="en-US" sz="1050" b="1" dirty="0">
                          <a:solidFill>
                            <a:srgbClr val="EBEDF0"/>
                          </a:solidFill>
                          <a:latin typeface="Geist" pitchFamily="34" charset="0"/>
                          <a:ea typeface="Geist" pitchFamily="34" charset="-122"/>
                          <a:cs typeface="Geist" pitchFamily="34" charset="-120"/>
                        </a:rPr>
                        <a:t>F1 Score</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Harmonic balance between precision and recall.</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r>
              <a:tr h="463340">
                <a:tc>
                  <a:txBody>
                    <a:bodyPr/>
                    <a:lstStyle/>
                    <a:p>
                      <a:pPr algn="l" indent="0" marL="0">
                        <a:buNone/>
                      </a:pPr>
                      <a:r>
                        <a:rPr lang="en-US" sz="1050" b="1" dirty="0">
                          <a:solidFill>
                            <a:srgbClr val="EBEDF0"/>
                          </a:solidFill>
                          <a:latin typeface="Geist" pitchFamily="34" charset="0"/>
                          <a:ea typeface="Geist" pitchFamily="34" charset="-122"/>
                          <a:cs typeface="Geist" pitchFamily="34" charset="-120"/>
                        </a:rPr>
                        <a:t>Confusion Matrix</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50" dirty="0">
                          <a:solidFill>
                            <a:srgbClr val="EBEDF0"/>
                          </a:solidFill>
                          <a:latin typeface="Geist" pitchFamily="34" charset="0"/>
                          <a:ea typeface="Geist" pitchFamily="34" charset="-122"/>
                          <a:cs typeface="Geist" pitchFamily="34" charset="-120"/>
                        </a:rPr>
                        <a:t>Full breakdown of TP, FP, TN, FN for operational review.</a:t>
                      </a:r>
                      <a:endParaRPr lang="en-US" sz="1050" dirty="0">
                        <a:latin typeface="Geist" charset="0"/>
                        <a:ea typeface="Geist" charset="0"/>
                        <a:cs typeface="Geist" charset="0"/>
                      </a:endParaRPr>
                    </a:p>
                  </a:txBody>
                  <a:tcPr marL="134380" marR="134380" marT="6350" marB="6350" anchor="ctr">
                    <a:lnL w="0" cap="flat" cmpd="sng" algn="ctr">
                      <a:noFill/>
                    </a:lnL>
                    <a:lnR w="0" cap="flat" cmpd="sng" algn="ctr">
                      <a:noFill/>
                    </a:lnR>
                    <a:lnT w="0" cap="flat" cmpd="sng" algn="ctr">
                      <a:noFill/>
                    </a:lnT>
                    <a:lnB w="0" cap="flat" cmpd="sng" algn="ctr">
                      <a:noFill/>
                    </a:lnB>
                  </a:tcPr>
                </a:tc>
              </a:tr>
            </a:tbl>
          </a:graphicData>
        </a:graphic>
      </p:graphicFrame>
      <p:sp>
        <p:nvSpPr>
          <p:cNvPr id="10" name="Shape 6"/>
          <p:cNvSpPr/>
          <p:nvPr/>
        </p:nvSpPr>
        <p:spPr>
          <a:xfrm>
            <a:off x="661475" y="3974333"/>
            <a:ext cx="5270467" cy="8399"/>
          </a:xfrm>
          <a:prstGeom prst="rect">
            <a:avLst/>
          </a:prstGeom>
          <a:solidFill>
            <a:srgbClr val="FFFFFF">
              <a:alpha val="24000"/>
            </a:srgbClr>
          </a:solidFill>
          <a:ln/>
        </p:spPr>
      </p:sp>
      <p:sp>
        <p:nvSpPr>
          <p:cNvPr id="11" name="Shape 7"/>
          <p:cNvSpPr/>
          <p:nvPr/>
        </p:nvSpPr>
        <p:spPr>
          <a:xfrm>
            <a:off x="661475" y="4599098"/>
            <a:ext cx="5270467" cy="8399"/>
          </a:xfrm>
          <a:prstGeom prst="rect">
            <a:avLst/>
          </a:prstGeom>
          <a:solidFill>
            <a:srgbClr val="FFFFFF">
              <a:alpha val="24000"/>
            </a:srgbClr>
          </a:solidFill>
          <a:ln/>
        </p:spPr>
      </p:sp>
      <p:sp>
        <p:nvSpPr>
          <p:cNvPr id="12" name="Shape 8"/>
          <p:cNvSpPr/>
          <p:nvPr/>
        </p:nvSpPr>
        <p:spPr>
          <a:xfrm>
            <a:off x="661475" y="5223863"/>
            <a:ext cx="5270467" cy="8399"/>
          </a:xfrm>
          <a:prstGeom prst="rect">
            <a:avLst/>
          </a:prstGeom>
          <a:solidFill>
            <a:srgbClr val="FFFFFF">
              <a:alpha val="24000"/>
            </a:srgbClr>
          </a:solidFill>
          <a:ln/>
        </p:spPr>
      </p:sp>
      <p:sp>
        <p:nvSpPr>
          <p:cNvPr id="13" name="Shape 9"/>
          <p:cNvSpPr/>
          <p:nvPr/>
        </p:nvSpPr>
        <p:spPr>
          <a:xfrm>
            <a:off x="661475" y="5690378"/>
            <a:ext cx="5270467" cy="8399"/>
          </a:xfrm>
          <a:prstGeom prst="rect">
            <a:avLst/>
          </a:prstGeom>
          <a:solidFill>
            <a:srgbClr val="FFFFFF">
              <a:alpha val="24000"/>
            </a:srgbClr>
          </a:solidFill>
          <a:ln/>
        </p:spPr>
      </p:sp>
      <p:sp>
        <p:nvSpPr>
          <p:cNvPr id="14" name="Text 10"/>
          <p:cNvSpPr/>
          <p:nvPr/>
        </p:nvSpPr>
        <p:spPr>
          <a:xfrm>
            <a:off x="6266103" y="1605359"/>
            <a:ext cx="5270467" cy="218281"/>
          </a:xfrm>
          <a:prstGeom prst="rect">
            <a:avLst/>
          </a:prstGeom>
          <a:noFill/>
          <a:ln/>
        </p:spPr>
        <p:txBody>
          <a:bodyPr wrap="none" lIns="0" tIns="0" rIns="0" bIns="0" rtlCol="0" anchor="t"/>
          <a:lstStyle/>
          <a:p>
            <a:pPr algn="l" indent="0" marL="0">
              <a:lnSpc>
                <a:spcPct val="108000"/>
              </a:lnSpc>
              <a:buNone/>
            </a:pPr>
            <a:r>
              <a:rPr lang="en-US" sz="1300" b="1" spc="-26" kern="0" dirty="0">
                <a:solidFill>
                  <a:srgbClr val="F2F5FA"/>
                </a:solidFill>
                <a:latin typeface="Geist Bold" pitchFamily="34" charset="0"/>
                <a:ea typeface="Geist Bold" pitchFamily="34" charset="-122"/>
                <a:cs typeface="Geist Bold" pitchFamily="34" charset="-120"/>
              </a:rPr>
              <a:t>Threshold Analysis</a:t>
            </a:r>
            <a:endParaRPr lang="en-US" sz="1300" dirty="0"/>
          </a:p>
        </p:txBody>
      </p:sp>
      <p:sp>
        <p:nvSpPr>
          <p:cNvPr id="15" name="Text 11"/>
          <p:cNvSpPr/>
          <p:nvPr/>
        </p:nvSpPr>
        <p:spPr>
          <a:xfrm>
            <a:off x="6266103" y="1932781"/>
            <a:ext cx="5270467" cy="474762"/>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The default 0.5 probability threshold is rarely optimal in business contexts. By adjusting the classification threshold, the retention team can choose their operating point:</a:t>
            </a:r>
            <a:endParaRPr lang="en-US" sz="1050" dirty="0"/>
          </a:p>
        </p:txBody>
      </p:sp>
      <p:sp>
        <p:nvSpPr>
          <p:cNvPr id="16" name="Shape 12"/>
          <p:cNvSpPr/>
          <p:nvPr/>
        </p:nvSpPr>
        <p:spPr>
          <a:xfrm>
            <a:off x="6266103" y="2530376"/>
            <a:ext cx="2580615" cy="1472803"/>
          </a:xfrm>
          <a:prstGeom prst="roundRect">
            <a:avLst>
              <a:gd name="adj" fmla="val 3832"/>
            </a:avLst>
          </a:prstGeom>
          <a:solidFill>
            <a:srgbClr val="101620"/>
          </a:solidFill>
          <a:ln w="12700">
            <a:solidFill>
              <a:srgbClr val="002A80"/>
            </a:solidFill>
            <a:prstDash val="solid"/>
          </a:ln>
        </p:spPr>
      </p:sp>
      <p:sp>
        <p:nvSpPr>
          <p:cNvPr id="17" name="Text 13"/>
          <p:cNvSpPr/>
          <p:nvPr/>
        </p:nvSpPr>
        <p:spPr>
          <a:xfrm>
            <a:off x="6413141" y="2677418"/>
            <a:ext cx="2286538" cy="436562"/>
          </a:xfrm>
          <a:prstGeom prst="rect">
            <a:avLst/>
          </a:prstGeom>
          <a:noFill/>
          <a:ln/>
        </p:spPr>
        <p:txBody>
          <a:bodyPr wrap="square" lIns="0" tIns="0" rIns="0" bIns="0" rtlCol="0" anchor="t">
            <a:normAutofit/>
          </a:bodyPr>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Lower Threshold → Higher Recall</a:t>
            </a:r>
            <a:endParaRPr lang="en-US" sz="1300" dirty="0"/>
          </a:p>
        </p:txBody>
      </p:sp>
      <p:sp>
        <p:nvSpPr>
          <p:cNvPr id="18" name="Text 14"/>
          <p:cNvSpPr/>
          <p:nvPr/>
        </p:nvSpPr>
        <p:spPr>
          <a:xfrm>
            <a:off x="6413141" y="3223121"/>
            <a:ext cx="2286538" cy="633016"/>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Cast a wider net — catch more churners, accept more false positives. Best when retention outreach is low-cost.</a:t>
            </a:r>
            <a:endParaRPr lang="en-US" sz="1050" dirty="0"/>
          </a:p>
        </p:txBody>
      </p:sp>
      <p:sp>
        <p:nvSpPr>
          <p:cNvPr id="19" name="Shape 15"/>
          <p:cNvSpPr/>
          <p:nvPr/>
        </p:nvSpPr>
        <p:spPr>
          <a:xfrm>
            <a:off x="8955856" y="2530376"/>
            <a:ext cx="2580714" cy="1472803"/>
          </a:xfrm>
          <a:prstGeom prst="roundRect">
            <a:avLst>
              <a:gd name="adj" fmla="val 3832"/>
            </a:avLst>
          </a:prstGeom>
          <a:solidFill>
            <a:srgbClr val="101620"/>
          </a:solidFill>
          <a:ln w="12700">
            <a:solidFill>
              <a:srgbClr val="002A80"/>
            </a:solidFill>
            <a:prstDash val="solid"/>
          </a:ln>
        </p:spPr>
      </p:sp>
      <p:sp>
        <p:nvSpPr>
          <p:cNvPr id="20" name="Text 16"/>
          <p:cNvSpPr/>
          <p:nvPr/>
        </p:nvSpPr>
        <p:spPr>
          <a:xfrm>
            <a:off x="9102894" y="2677418"/>
            <a:ext cx="2286637" cy="436562"/>
          </a:xfrm>
          <a:prstGeom prst="rect">
            <a:avLst/>
          </a:prstGeom>
          <a:noFill/>
          <a:ln/>
        </p:spPr>
        <p:txBody>
          <a:bodyPr wrap="square" lIns="0" tIns="0" rIns="0" bIns="0" rtlCol="0" anchor="t">
            <a:normAutofit/>
          </a:bodyPr>
          <a:lstStyle/>
          <a:p>
            <a:pPr algn="l" indent="0" marL="0">
              <a:lnSpc>
                <a:spcPct val="108000"/>
              </a:lnSpc>
              <a:buNone/>
            </a:pPr>
            <a:r>
              <a:rPr lang="en-US" sz="1300" b="1" spc="-26" kern="0" dirty="0">
                <a:solidFill>
                  <a:srgbClr val="EBEDF0"/>
                </a:solidFill>
                <a:latin typeface="Geist Bold" pitchFamily="34" charset="0"/>
                <a:ea typeface="Geist Bold" pitchFamily="34" charset="-122"/>
                <a:cs typeface="Geist Bold" pitchFamily="34" charset="-120"/>
              </a:rPr>
              <a:t>Higher Threshold → Higher Precision</a:t>
            </a:r>
            <a:endParaRPr lang="en-US" sz="1300" dirty="0"/>
          </a:p>
        </p:txBody>
      </p:sp>
      <p:sp>
        <p:nvSpPr>
          <p:cNvPr id="21" name="Text 17"/>
          <p:cNvSpPr/>
          <p:nvPr/>
        </p:nvSpPr>
        <p:spPr>
          <a:xfrm>
            <a:off x="9102894" y="3223121"/>
            <a:ext cx="2286637" cy="633016"/>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EBEDF0"/>
                </a:solidFill>
                <a:latin typeface="Geist" pitchFamily="34" charset="0"/>
                <a:ea typeface="Geist" pitchFamily="34" charset="-122"/>
                <a:cs typeface="Geist" pitchFamily="34" charset="-120"/>
              </a:rPr>
              <a:t>Focus only on highest-risk customers — minimize wasted effort. Best when retention offers are expensive or limited.</a:t>
            </a:r>
            <a:endParaRPr lang="en-US" sz="1050" dirty="0"/>
          </a:p>
        </p:txBody>
      </p:sp>
      <p:sp>
        <p:nvSpPr>
          <p:cNvPr id="22" name="Shape 18"/>
          <p:cNvSpPr/>
          <p:nvPr/>
        </p:nvSpPr>
        <p:spPr>
          <a:xfrm>
            <a:off x="6266103" y="4126012"/>
            <a:ext cx="5270467" cy="738287"/>
          </a:xfrm>
          <a:prstGeom prst="roundRect">
            <a:avLst>
              <a:gd name="adj" fmla="val 7645"/>
            </a:avLst>
          </a:prstGeom>
          <a:solidFill>
            <a:srgbClr val="002A80"/>
          </a:solidFill>
          <a:ln/>
        </p:spPr>
      </p:sp>
      <p:pic>
        <p:nvPicPr>
          <p:cNvPr id="23" name="Image 1" descr="preencoded.png">    </p:cNvPr>
          <p:cNvPicPr>
            <a:picLocks noChangeAspect="1"/>
          </p:cNvPicPr>
          <p:nvPr/>
        </p:nvPicPr>
        <p:blipFill>
          <a:blip r:embed="rId3"/>
          <a:stretch>
            <a:fillRect/>
          </a:stretch>
        </p:blipFill>
        <p:spPr>
          <a:xfrm>
            <a:off x="6400441" y="4271764"/>
            <a:ext cx="167973" cy="134342"/>
          </a:xfrm>
          <a:prstGeom prst="rect">
            <a:avLst/>
          </a:prstGeom>
        </p:spPr>
      </p:pic>
      <p:sp>
        <p:nvSpPr>
          <p:cNvPr id="24" name="Text 19"/>
          <p:cNvSpPr/>
          <p:nvPr/>
        </p:nvSpPr>
        <p:spPr>
          <a:xfrm>
            <a:off x="6702753" y="4257774"/>
            <a:ext cx="4699478" cy="474762"/>
          </a:xfrm>
          <a:prstGeom prst="rect">
            <a:avLst/>
          </a:prstGeom>
          <a:noFill/>
          <a:ln/>
        </p:spPr>
        <p:txBody>
          <a:bodyPr wrap="square" lIns="0" tIns="0" rIns="0" bIns="0" rtlCol="0" anchor="t">
            <a:normAutofit/>
          </a:bodyPr>
          <a:lstStyle/>
          <a:p>
            <a:pPr algn="l" indent="0" marL="0">
              <a:lnSpc>
                <a:spcPct val="98000"/>
              </a:lnSpc>
              <a:buNone/>
            </a:pPr>
            <a:r>
              <a:rPr lang="en-US" sz="1050" dirty="0">
                <a:solidFill>
                  <a:srgbClr val="FFFFFF"/>
                </a:solidFill>
                <a:latin typeface="Geist" pitchFamily="34" charset="0"/>
                <a:ea typeface="Geist" pitchFamily="34" charset="-122"/>
                <a:cs typeface="Geist" pitchFamily="34" charset="-120"/>
              </a:rPr>
              <a:t>Threshold selection is a business decision, not a purely technical one. The final operating point will be determined in consultation with the retention team's capacity and budget constraints.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2026-09-30T09:37:08Z</dcterms:created>
  <dcterms:modified xsi:type="dcterms:W3CDTF">2026-09-30T09:37:08Z</dcterms:modified>
</cp:coreProperties>
</file>